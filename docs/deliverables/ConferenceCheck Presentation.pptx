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307" r:id="rId22"/>
    <p:sldId id="277" r:id="rId6"/>
    <p:sldId id="278" r:id="rId7"/>
    <p:sldId id="280" r:id="rId8"/>
    <p:sldId id="282" r:id="rId9"/>
    <p:sldId id="283" r:id="rId10"/>
    <p:sldId id="284" r:id="rId11"/>
    <p:sldId id="285" r:id="rId12"/>
    <p:sldId id="288" r:id="rId13"/>
    <p:sldId id="308" r:id="rId23"/>
    <p:sldId id="309" r:id="rId24"/>
    <p:sldId id="296" r:id="rId14"/>
    <p:sldId id="298" r:id="rId15"/>
    <p:sldId id="301" r:id="rId16"/>
    <p:sldId id="310" r:id="rId25"/>
    <p:sldId id="30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snapToObjects="1">
      <p:cViewPr varScale="1">
        <p:scale>
          <a:sx n="78" d="100"/>
          <a:sy n="78" d="100"/>
        </p:scale>
        <p:origin x="629"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20.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5.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9.xml"/><Relationship Id="rId26"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232323"/>
                </a:solidFill>
              </a:rPr>
              <a:t>Vouchers redeemed more than once, out of 50 races</a:t>
            </a:r>
          </a:p>
        </c:rich>
      </c:tx>
      <c:layout/>
      <c:overlay val="0"/>
    </c:title>
    <c:autoTitleDeleted val="0"/>
    <c:plotArea>
      <c:barChart>
        <c:barDir val="col"/>
        <c:grouping val="clustered"/>
        <c:ser>
          <c:idx val="0"/>
          <c:order val="0"/>
          <c:tx>
            <c:strRef>
              <c:f>Sheet1!$B$1</c:f>
              <c:strCache>
                <c:ptCount val="1"/>
                <c:pt idx="0">
                  <c:v>Vouchers redeemed more than once (of 50)</c:v>
                </c:pt>
              </c:strCache>
            </c:strRef>
          </c:tx>
          <c:dPt>
            <c:idx val="0"/>
            <c:spPr>
              <a:solidFill>
                <a:srgbClr val="0B7A6F"/>
              </a:solidFill>
            </c:spPr>
          </c:dPt>
          <c:dPt>
            <c:idx val="1"/>
            <c:spPr>
              <a:solidFill>
                <a:srgbClr val="0B7A6F"/>
              </a:solidFill>
            </c:spPr>
          </c:dPt>
          <c:dPt>
            <c:idx val="2"/>
            <c:spPr>
              <a:solidFill>
                <a:srgbClr val="0B7A6F"/>
              </a:solidFill>
            </c:spPr>
          </c:dPt>
          <c:dPt>
            <c:idx val="3"/>
            <c:spPr>
              <a:solidFill>
                <a:srgbClr val="B42318"/>
              </a:solidFill>
            </c:spPr>
          </c:dPt>
          <c:cat>
            <c:strRef>
              <c:f>Sheet1!$A$2:$A$5</c:f>
              <c:strCache>
                <c:ptCount val="4"/>
                <c:pt idx="0">
                  <c:v>Lock + constraint
(as built)</c:v>
                </c:pt>
                <c:pt idx="1">
                  <c:v>Constraint only</c:v>
                </c:pt>
                <c:pt idx="2">
                  <c:v>Lock only</c:v>
                </c:pt>
                <c:pt idx="3">
                  <c:v>Neither
(control)</c:v>
                </c:pt>
              </c:strCache>
            </c:strRef>
          </c:cat>
          <c:val>
            <c:numRef>
              <c:f>Sheet1!$B$2:$B$5</c:f>
              <c:numCache>
                <c:formatCode>General</c:formatCode>
                <c:ptCount val="4"/>
                <c:pt idx="0">
                  <c:v>0</c:v>
                </c:pt>
                <c:pt idx="1">
                  <c:v>0</c:v>
                </c:pt>
                <c:pt idx="2">
                  <c:v>0</c:v>
                </c:pt>
                <c:pt idx="3">
                  <c:v>48</c:v>
                </c:pt>
              </c:numCache>
            </c:numRef>
          </c:val>
        </c:ser>
        <c:dLbls>
          <c:txPr>
            <a:bodyPr/>
            <a:lstStyle/>
            <a:p>
              <a:pPr>
                <a:defRPr sz="1400" b="1"/>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50.0"/>
          <c:min val="0.0"/>
        </c:scaling>
        <c:delete val="0"/>
        <c:axPos val="l"/>
        <c:majorGridlines>
          <c:spPr>
            <a:ln>
              <a:solidFill>
                <a:srgbClr val="E1E6EC"/>
              </a:solidFill>
            </a:ln>
          </c:spPr>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project. This is component 4.3b of the ConferenceCheck capstone: everything that happens after check-in. Meals, session capacity, notifications, analytics and reports. Component 4.3a, check-in and offline sync, is a separate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point: a QR code on its own has no anti-fraud property. The closest prior work, Masalha and Hirzallah [3], proposes a QR attendance system as a design with no measured comparison against manual registers, so there is no published figure to compare against. Do NOT say it found QR "faster and more accurate"; that was corrected.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TO WALK THROUGH scanVoucher (app/Http/Controllers/Api/MealController.php):</a:t>
            </a:r>
          </a:p>
          <a:p>
            <a:r>
              <a:t>1. scanVoucher calls redeem() inside a try/catch for UniqueConstraintViolationException.</a:t>
            </a:r>
          </a:p>
          <a:p>
            <a:r>
              <a:t>2. redeem() runs in DB::transaction. It selects the voucher by qr_token with lockForUpdate(), so on PostgreSQL a second scan of the same voucher waits until the first transaction ends.</a:t>
            </a:r>
          </a:p>
          <a:p>
            <a:r>
              <a:t>3. No voucher, or a voucher from another event: 404 "Invalid meal voucher QR token."</a:t>
            </a:r>
          </a:p>
          <a:p>
            <a:r>
              <a:t>4. Status is not unused: 409 with the status and the earlier redeemed_at.</a:t>
            </a:r>
          </a:p>
          <a:p>
            <a:r>
              <a:t>5. Category not active, or now is outside starts_at to ends_at: 422.</a:t>
            </a:r>
          </a:p>
          <a:p>
            <a:r>
              <a:t>6. Otherwise update the voucher to redeemed and create the meal_redemptions row with the device id. 200.</a:t>
            </a:r>
          </a:p>
          <a:p>
            <a:r>
              <a:t>7. If the insert ever hits the unique constraint on meal_voucher_id (only possible if the lock is missing), the exception is caught OUTSIDE the transaction and turned into the same 409, never a 500.</a:t>
            </a:r>
          </a:p>
          <a:p>
            <a:r>
              <a:t>Why order matters: the 409 check comes before the 422 checks, so an already-redeemed voucher always says "already redeemed".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REPLAY SETTLES ONLY 404, 409 AND 422 (mobile/lib/features/sync/application/scan_sync_controller.dart):</a:t>
            </a:r>
          </a:p>
          <a:p>
            <a:r>
              <a:t>Those three are final answers about the token itself: 404 the token does not exist, 409 it was already used (or the attendee is already in the session), 422 it cannot be redeemed now (category inactive or window closed). Sending the same scan again will always get the same answer, so keeping it would only block the queue.</a:t>
            </a:r>
          </a:p>
          <a:p>
            <a:r>
              <a:t>Everything else is about the conditions, not the token: no connection, 401 expired login, 403, 408, 429 rate limit, 5xx server fault. A later retry can succeed, so the scan is kept.</a:t>
            </a:r>
          </a:p>
          <a:p>
            <a:r>
              <a:t>When one scan is kept, every scan after it is kept too and the run stops, so the order the scans were made in is preserved.</a:t>
            </a:r>
          </a:p>
          <a:p>
            <a:r>
              <a:t>This is safe because the server is idempotent: a scan that already reached the server just comes back as 409 on replay, never as a second redemption.</a:t>
            </a:r>
          </a:p>
          <a:p>
            <a:r>
              <a:t>Tests: mobile/test/scan_replay_test.dart and scan_replay_restart_test.dart, run against a fake API, not on a device.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HOW run-concurrency-experiment.py PATCHES EACH WORKTREE:</a:t>
            </a:r>
          </a:p>
          <a:p>
            <a:r>
              <a:t>1. For each configuration it runs "git worktree add --detach &lt;temp dir&gt; HEAD", so every configuration runs the same commit.</a:t>
            </a:r>
          </a:p>
          <a:p>
            <a:r>
              <a:t>2. In that copy it edits MealController.php: for "lock off" it deletes -&gt;lockForUpdate(); for the widened run it inserts usleep(50 ms) just before the write, in all four configurations alike. It first checks each pattern appears exactly once, and stops if the controller no longer matches.</a:t>
            </a:r>
          </a:p>
          <a:p>
            <a:r>
              <a:t>3. "Constraint off" is not a code change: the unique constraint is dropped on a scratch database, conferencecheck_concurrency, which the script creates and drops.</a:t>
            </a:r>
          </a:p>
          <a:p>
            <a:r>
              <a:t>4. It copies .env, gives the worktree its own copy of Composer's autoloader and links only the packages, because linking the whole vendor folder would load the main checkout's classes. It then checks by reflection that the worktree really loads its own patched controller.</a:t>
            </a:r>
          </a:p>
          <a:p>
            <a:r>
              <a:t>5. It starts five "php -S" servers on ports 8101 to 8105 and fires the five scans of one fresh voucher at the same moment, one to each server, 50 races per configuration.</a:t>
            </a:r>
          </a:p>
          <a:p>
            <a:r>
              <a:t>The supervisor reran it unchanged: one winner in every race with a safeguard, 49 of 50 double-redeemed with neither (ours: 48).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SCRIPT:</a:t>
            </a:r>
          </a:p>
          <a:p>
            <a:r>
              <a:t>Before: run php artisan db:seed the same morning (the seeded meal windows close two days after seeding), start the server (serve-pgsql.bat), have both phones on the same network as the laptop.</a:t>
            </a:r>
          </a:p>
          <a:p>
            <a:r>
              <a:t>1. Attendee phone: log in as attendee@example.com / password, open the Meals tab. Supper is Unused with a QR code.</a:t>
            </a:r>
          </a:p>
          <a:p>
            <a:r>
              <a:t>2. Scanner phone: log in as scanner@example.com, Meal scanner, point the camera at the attendee phone. Expect "Voucher redeemed successfully." (200)</a:t>
            </a:r>
          </a:p>
          <a:p>
            <a:r>
              <a:t>3. Scan it again: "Meal voucher has already been redeemed or is not usable." (409)</a:t>
            </a:r>
          </a:p>
          <a:p>
            <a:r>
              <a:t>4. Optional: scan the attendee pass from My QR at the meal scanner: 404, because the pass is not a meal voucher.</a:t>
            </a:r>
          </a:p>
          <a:p>
            <a:r>
              <a:t>5. Organiser: dashboard shows the redemption count go up within one 30 s refresh.</a:t>
            </a:r>
          </a:p>
          <a:p>
            <a:r>
              <a:t>If the camera fails, type the token into the manual field; say so plainly.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1417320"/>
            <a:ext cx="10332720" cy="1371600"/>
          </a:xfrm>
          <a:prstGeom prst="rect">
            <a:avLst/>
          </a:prstGeom>
          <a:noFill/>
        </p:spPr>
        <p:txBody>
          <a:bodyPr wrap="square">
            <a:spAutoFit/>
          </a:bodyPr>
          <a:lstStyle/>
          <a:p>
            <a:pPr algn="ctr">
              <a:defRPr sz="4000" b="1">
                <a:solidFill>
                  <a:srgbClr val="FFFFFF"/>
                </a:solidFill>
              </a:defRPr>
            </a:pPr>
            <a:r>
              <a:rPr sz="3600"/>
              <a:t>Fraud-Resistant Meal Vouchers and Real-Time Analytics for Conference Management</a:t>
            </a:r>
          </a:p>
          <a:p>
            <a:pPr algn="ctr">
              <a:defRPr sz="4000" b="1">
                <a:solidFill>
                  <a:srgbClr val="FFFFFF"/>
                </a:solidFill>
              </a:defRPr>
            </a:pPr>
            <a:r>
              <a:rPr sz="2200" b="0"/>
              <a:t>ConferenceCheck Mobile: Analytics, Meals and Notifications (component 4.3b)</a:t>
            </a:r>
          </a:p>
        </p:txBody>
      </p:sp>
      <p:sp>
        <p:nvSpPr>
          <p:cNvPr id="3" name="TextBox 2"/>
          <p:cNvSpPr txBox="1"/>
          <p:nvPr/>
        </p:nvSpPr>
        <p:spPr>
          <a:xfrm>
            <a:off x="3758701" y="3741688"/>
            <a:ext cx="4674292" cy="2246769"/>
          </a:xfrm>
          <a:prstGeom prst="rect">
            <a:avLst/>
          </a:prstGeom>
          <a:noFill/>
        </p:spPr>
        <p:txBody>
          <a:bodyPr wrap="none">
            <a:spAutoFit/>
          </a:bodyPr>
          <a:lstStyle/>
          <a:p>
            <a:pPr algn="ctr">
              <a:defRPr sz="2000">
                <a:solidFill>
                  <a:srgbClr val="FFFFFF"/>
                </a:solidFill>
              </a:defRPr>
            </a:pPr>
            <a:r>
              <a:rPr lang="en-US" dirty="0"/>
              <a:t>Ndashi Bwalya Chisanga</a:t>
            </a:r>
          </a:p>
          <a:p>
            <a:pPr algn="ctr">
              <a:defRPr sz="2000">
                <a:solidFill>
                  <a:srgbClr val="FFFFFF"/>
                </a:solidFill>
              </a:defRPr>
            </a:pPr>
            <a:r>
              <a:rPr lang="en-US" dirty="0"/>
              <a:t>2021470105</a:t>
            </a:r>
          </a:p>
          <a:p>
            <a:pPr algn="ctr">
              <a:defRPr sz="2000">
                <a:solidFill>
                  <a:srgbClr val="FFFFFF"/>
                </a:solidFill>
              </a:defRPr>
            </a:pPr>
            <a:r>
              <a:rPr dirty="0"/>
              <a:t>Final Year Project Presentation</a:t>
            </a:r>
            <a:br>
              <a:rPr dirty="0"/>
            </a:br>
            <a:r>
              <a:rPr dirty="0"/>
              <a:t>University of Zambia</a:t>
            </a:r>
            <a:endParaRPr lang="en-US" dirty="0"/>
          </a:p>
          <a:p>
            <a:pPr algn="ctr">
              <a:defRPr sz="2000">
                <a:solidFill>
                  <a:srgbClr val="FFFFFF"/>
                </a:solidFill>
              </a:defRPr>
            </a:pPr>
            <a:r>
              <a:rPr dirty="0"/>
              <a:t>School of Natural and Applied Sciences</a:t>
            </a:r>
            <a:br>
              <a:rPr dirty="0"/>
            </a:br>
            <a:r>
              <a:rPr dirty="0"/>
              <a:t>Department of Computing and Informatics </a:t>
            </a:r>
            <a:endParaRPr lang="en-US" dirty="0"/>
          </a:p>
          <a:p>
            <a:pPr algn="ctr">
              <a:defRPr sz="2000">
                <a:solidFill>
                  <a:srgbClr val="FFFFFF"/>
                </a:solidFill>
              </a:defRPr>
            </a:pPr>
            <a:r>
              <a:rPr dirty="0"/>
              <a:t>2026</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01168"/>
          </a:xfrm>
          <a:prstGeom prst="rect">
            <a:avLst/>
          </a:prstGeom>
          <a:noFill/>
        </p:spPr>
        <p:txBody>
          <a:bodyPr wrap="none">
            <a:spAutoFit/>
          </a:bodyPr>
          <a:lstStyle/>
          <a:p>
            <a:pPr>
              <a:defRPr sz="900">
                <a:solidFill>
                  <a:srgbClr val="FFFFFF"/>
                </a:solidFill>
              </a:defRPr>
            </a:pPr>
            <a:r>
              <a:t>Final Year Project • Academic Year 2026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Project Role and Responsibilities</a:t>
            </a:r>
          </a:p>
        </p:txBody>
      </p:sp>
      <p:graphicFrame>
        <p:nvGraphicFramePr>
          <p:cNvPr id="3" name="Table 2"/>
          <p:cNvGraphicFramePr>
            <a:graphicFrameLocks noGrp="1"/>
          </p:cNvGraphicFramePr>
          <p:nvPr/>
        </p:nvGraphicFramePr>
        <p:xfrm>
          <a:off x="731520" y="1234440"/>
          <a:ext cx="10698480" cy="128016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731520">
                <a:tc>
                  <a:txBody>
                    <a:bodyPr/>
                    <a:lstStyle/>
                    <a:p>
                      <a:pPr>
                        <a:defRPr sz="1400" b="1">
                          <a:solidFill>
                            <a:srgbClr val="FFFFFF"/>
                          </a:solidFill>
                        </a:defRPr>
                      </a:pPr>
                      <a:r>
                        <a:t>Member</a:t>
                      </a:r>
                    </a:p>
                  </a:txBody>
                  <a:tcPr>
                    <a:solidFill>
                      <a:srgbClr val="192D4B"/>
                    </a:solidFill>
                  </a:tcPr>
                </a:tc>
                <a:tc>
                  <a:txBody>
                    <a:bodyPr/>
                    <a:lstStyle/>
                    <a:p>
                      <a:pPr>
                        <a:defRPr sz="1400" b="1">
                          <a:solidFill>
                            <a:srgbClr val="FFFFFF"/>
                          </a:solidFill>
                        </a:defRPr>
                      </a:pPr>
                      <a:r>
                        <a:t>Computer No.</a:t>
                      </a:r>
                    </a:p>
                  </a:txBody>
                  <a:tcPr>
                    <a:solidFill>
                      <a:srgbClr val="192D4B"/>
                    </a:solidFill>
                  </a:tcPr>
                </a:tc>
                <a:tc>
                  <a:txBody>
                    <a:bodyPr/>
                    <a:lstStyle/>
                    <a:p>
                      <a:pPr>
                        <a:defRPr sz="1400" b="1">
                          <a:solidFill>
                            <a:srgbClr val="FFFFFF"/>
                          </a:solidFill>
                        </a:defRPr>
                      </a:pPr>
                      <a:r>
                        <a:t>Primary Role / Responsibilities</a:t>
                      </a:r>
                    </a:p>
                  </a:txBody>
                  <a:tcPr>
                    <a:solidFill>
                      <a:srgbClr val="192D4B"/>
                    </a:solidFill>
                  </a:tcPr>
                </a:tc>
                <a:extLst>
                  <a:ext uri="{0D108BD9-81ED-4DB2-BD59-A6C34878D82A}">
                    <a16:rowId xmlns:a16="http://schemas.microsoft.com/office/drawing/2014/main" val="10000"/>
                  </a:ext>
                </a:extLst>
              </a:tr>
              <a:tr h="731520">
                <a:tc>
                  <a:txBody>
                    <a:bodyPr/>
                    <a:lstStyle/>
                    <a:p>
                      <a:pPr>
                        <a:defRPr sz="1300">
                          <a:solidFill>
                            <a:srgbClr val="232323"/>
                          </a:solidFill>
                        </a:defRPr>
                      </a:pPr>
                      <a:r>
                        <a:t>Ndashi Bwalya Chisanga</a:t>
                      </a:r>
                    </a:p>
                  </a:txBody>
                  <a:tcPr>
                    <a:solidFill>
                      <a:srgbClr val="F2F5F9"/>
                    </a:solidFill>
                  </a:tcPr>
                </a:tc>
                <a:tc>
                  <a:txBody>
                    <a:bodyPr/>
                    <a:lstStyle/>
                    <a:p>
                      <a:pPr>
                        <a:defRPr sz="1300">
                          <a:solidFill>
                            <a:srgbClr val="232323"/>
                          </a:solidFill>
                        </a:defRPr>
                      </a:pPr>
                      <a:r>
                        <a:t>2021470105</a:t>
                      </a:r>
                    </a:p>
                  </a:txBody>
                  <a:tcPr>
                    <a:solidFill>
                      <a:srgbClr val="F2F5F9"/>
                    </a:solidFill>
                  </a:tcPr>
                </a:tc>
                <a:tc>
                  <a:txBody>
                    <a:bodyPr/>
                    <a:lstStyle/>
                    <a:p>
                      <a:pPr>
                        <a:defRPr sz="1300">
                          <a:solidFill>
                            <a:srgbClr val="232323"/>
                          </a:solidFill>
                        </a:defRPr>
                      </a:pPr>
                      <a:r>
                        <a:t>Sole developer of component 4.3b: requirements, Flutter app, Laravel API, database design, evaluation and documentation</a:t>
                      </a:r>
                    </a:p>
                  </a:txBody>
                  <a:tcPr>
                    <a:solidFill>
                      <a:srgbClr val="F2F5F9"/>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777240" y="2926080"/>
            <a:ext cx="10515600" cy="365760"/>
          </a:xfrm>
          <a:prstGeom prst="rect">
            <a:avLst/>
          </a:prstGeom>
          <a:noFill/>
        </p:spPr>
        <p:txBody>
          <a:bodyPr wrap="none">
            <a:spAutoFit/>
          </a:bodyPr>
          <a:lstStyle/>
          <a:p>
            <a:pPr>
              <a:defRPr sz="1500" b="1">
                <a:solidFill>
                  <a:srgbClr val="192D4B"/>
                </a:solidFill>
              </a:defRPr>
            </a:pPr>
            <a:r>
              <a:t>Supervisor: Mr. Mofya Phiri</a:t>
            </a:r>
          </a:p>
        </p:txBody>
      </p:sp>
      <p:sp>
        <p:nvSpPr>
          <p:cNvPr id="5" name="Rectangle 4"/>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74536"/>
            <a:ext cx="5486400" cy="201168"/>
          </a:xfrm>
          <a:prstGeom prst="rect">
            <a:avLst/>
          </a:prstGeom>
          <a:noFill/>
        </p:spPr>
        <p:txBody>
          <a:bodyPr wrap="none">
            <a:spAutoFit/>
          </a:bodyPr>
          <a:lstStyle/>
          <a:p>
            <a:pPr>
              <a:defRPr sz="900">
                <a:solidFill>
                  <a:srgbClr val="FFFFFF"/>
                </a:solidFill>
              </a:defRPr>
            </a:pPr>
            <a:r>
              <a:t>Final Year Project • Academic Year 2026                                      2</a:t>
            </a:r>
          </a:p>
        </p:txBody>
      </p:sp>
      <p:sp>
        <p:nvSpPr>
          <p:cNvPr id="7" name="Rounded Rectangle 6"/>
          <p:cNvSpPr/>
          <p:nvPr/>
        </p:nvSpPr>
        <p:spPr>
          <a:xfrm>
            <a:off x="731520" y="3657600"/>
            <a:ext cx="10698480" cy="17373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794760"/>
            <a:ext cx="10332719" cy="411480"/>
          </a:xfrm>
          <a:prstGeom prst="rect">
            <a:avLst/>
          </a:prstGeom>
          <a:noFill/>
        </p:spPr>
        <p:txBody>
          <a:bodyPr wrap="square" lIns="45720" rIns="45720" tIns="27432" bIns="27432" anchor="t">
            <a:spAutoFit/>
          </a:bodyPr>
          <a:lstStyle/>
          <a:p>
            <a:pPr algn="l"/>
            <a:r>
              <a:rPr sz="1700" b="1" i="0">
                <a:solidFill>
                  <a:srgbClr val="192D4B"/>
                </a:solidFill>
                <a:latin typeface="Calibri"/>
              </a:rPr>
              <a:t>Sibling component</a:t>
            </a:r>
          </a:p>
        </p:txBody>
      </p:sp>
      <p:sp>
        <p:nvSpPr>
          <p:cNvPr id="9" name="TextBox 8"/>
          <p:cNvSpPr txBox="1"/>
          <p:nvPr/>
        </p:nvSpPr>
        <p:spPr>
          <a:xfrm>
            <a:off x="914400" y="4224528"/>
            <a:ext cx="10332719" cy="1051560"/>
          </a:xfrm>
          <a:prstGeom prst="rect">
            <a:avLst/>
          </a:prstGeom>
          <a:noFill/>
        </p:spPr>
        <p:txBody>
          <a:bodyPr wrap="square" lIns="45720" rIns="45720" tIns="27432" bIns="27432" anchor="t">
            <a:spAutoFit/>
          </a:bodyPr>
          <a:lstStyle/>
          <a:p>
            <a:pPr algn="l"/>
            <a:r>
              <a:rPr sz="1600" b="0" i="0">
                <a:solidFill>
                  <a:srgbClr val="232323"/>
                </a:solidFill>
                <a:latin typeface="Calibri"/>
              </a:rPr>
              <a:t>Component 4.3a (core check-in capture and offline sync engine) is a separate project. This component reads check-in data through the agreed REST API contract and uses a minimal check-in stub so it can be built and tested on its 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Presentation Overview</a:t>
            </a:r>
          </a:p>
        </p:txBody>
      </p:sp>
      <p:sp>
        <p:nvSpPr>
          <p:cNvPr id="3" name="TextBox 2"/>
          <p:cNvSpPr txBox="1"/>
          <p:nvPr/>
        </p:nvSpPr>
        <p:spPr>
          <a:xfrm>
            <a:off x="822960" y="1325880"/>
            <a:ext cx="10607040" cy="3277820"/>
          </a:xfrm>
          <a:prstGeom prst="rect">
            <a:avLst/>
          </a:prstGeom>
          <a:noFill/>
        </p:spPr>
        <p:txBody>
          <a:bodyPr wrap="square">
            <a:spAutoFit/>
          </a:bodyPr>
          <a:lstStyle/>
          <a:p>
            <a:pPr>
              <a:spcAft>
                <a:spcPts val="1200"/>
              </a:spcAft>
              <a:defRPr sz="2100">
                <a:solidFill>
                  <a:srgbClr val="232323"/>
                </a:solidFill>
              </a:defRPr>
            </a:pPr>
            <a:r>
              <a:rPr lang="en-US" dirty="0" b="0"/>
              <a:t>Background, aim and objectives</a:t>
            </a:r>
            <a:endParaRPr dirty="0"/>
          </a:p>
          <a:p>
            <a:pPr>
              <a:spcAft>
                <a:spcPts val="1200"/>
              </a:spcAft>
              <a:defRPr sz="2100">
                <a:solidFill>
                  <a:srgbClr val="232323"/>
                </a:solidFill>
              </a:defRPr>
            </a:pPr>
            <a:r>
              <a:rPr lang="en-US" dirty="0" b="0"/>
              <a:t>System analysis and design</a:t>
            </a:r>
            <a:endParaRPr dirty="0"/>
          </a:p>
          <a:p>
            <a:pPr>
              <a:spcAft>
                <a:spcPts val="1200"/>
              </a:spcAft>
              <a:defRPr sz="2100">
                <a:solidFill>
                  <a:srgbClr val="232323"/>
                </a:solidFill>
              </a:defRPr>
            </a:pPr>
            <a:r>
              <a:rPr lang="en-US" dirty="0" b="0"/>
              <a:t>Implementation and development</a:t>
            </a:r>
            <a:endParaRPr dirty="0"/>
          </a:p>
          <a:p>
            <a:pPr>
              <a:spcAft>
                <a:spcPts val="1200"/>
              </a:spcAft>
              <a:defRPr sz="2100">
                <a:solidFill>
                  <a:srgbClr val="232323"/>
                </a:solidFill>
              </a:defRPr>
            </a:pPr>
            <a:r>
              <a:rPr lang="en-US" dirty="0" b="0"/>
              <a:t>Testing, results and evaluation</a:t>
            </a:r>
            <a:endParaRPr dirty="0"/>
          </a:p>
          <a:p>
            <a:pPr>
              <a:spcAft>
                <a:spcPts val="1200"/>
              </a:spcAft>
              <a:defRPr sz="2100">
                <a:solidFill>
                  <a:srgbClr val="232323"/>
                </a:solidFill>
              </a:defRPr>
            </a:pPr>
            <a:r>
              <a:rPr lang="en-US" dirty="0" b="0"/>
              <a:t>Discussion and limitations</a:t>
            </a:r>
            <a:endParaRPr dirty="0"/>
          </a:p>
          <a:p>
            <a:pPr>
              <a:spcAft>
                <a:spcPts val="1200"/>
              </a:spcAft>
              <a:defRPr sz="2100">
                <a:solidFill>
                  <a:srgbClr val="232323"/>
                </a:solidFill>
              </a:defRPr>
            </a:pPr>
            <a:r>
              <a:rPr lang="en-US" dirty="0" b="0"/>
              <a:t>Conclusion</a:t>
            </a:r>
            <a:endParaRPr dirty="0"/>
          </a:p>
          <a:p>
            <a:pPr>
              <a:spcAft>
                <a:spcPts val="1200"/>
              </a:spcAft>
              <a:defRPr sz="2100">
                <a:solidFill>
                  <a:srgbClr val="232323"/>
                </a:solidFill>
              </a:defRPr>
            </a:pPr>
            <a:r>
              <a:rPr lang="en-US" dirty="0" b="0"/>
              <a:t>System demonstration</a:t>
            </a:r>
            <a:endParaRPr dirty="0"/>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01168"/>
          </a:xfrm>
          <a:prstGeom prst="rect">
            <a:avLst/>
          </a:prstGeom>
          <a:noFill/>
        </p:spPr>
        <p:txBody>
          <a:bodyPr wrap="none">
            <a:spAutoFit/>
          </a:bodyPr>
          <a:lstStyle/>
          <a:p>
            <a:pPr>
              <a:defRPr sz="900">
                <a:solidFill>
                  <a:srgbClr val="FFFFFF"/>
                </a:solidFill>
              </a:defRPr>
            </a:pPr>
            <a:r>
              <a:t>Final Year Project • Academic Year 2026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Background and Context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4</a:t>
            </a:r>
            <a:endParaRPr dirty="0"/>
          </a:p>
        </p:txBody>
      </p:sp>
      <p:sp>
        <p:nvSpPr>
          <p:cNvPr id="6" name="TextBox 5"/>
          <p:cNvSpPr txBox="1"/>
          <p:nvPr/>
        </p:nvSpPr>
        <p:spPr>
          <a:xfrm>
            <a:off x="822960" y="1188720"/>
            <a:ext cx="6400800" cy="457200"/>
          </a:xfrm>
          <a:prstGeom prst="rect">
            <a:avLst/>
          </a:prstGeom>
          <a:noFill/>
        </p:spPr>
        <p:txBody>
          <a:bodyPr wrap="square" lIns="45720" rIns="45720" tIns="27432" bIns="27432" anchor="t">
            <a:spAutoFit/>
          </a:bodyPr>
          <a:lstStyle/>
          <a:p>
            <a:pPr algn="l"/>
            <a:r>
              <a:rPr sz="2000" b="1" i="0">
                <a:solidFill>
                  <a:srgbClr val="192D4B"/>
                </a:solidFill>
                <a:latin typeface="Calibri"/>
              </a:rPr>
              <a:t>The problem</a:t>
            </a:r>
          </a:p>
        </p:txBody>
      </p:sp>
      <p:sp>
        <p:nvSpPr>
          <p:cNvPr id="7" name="TextBox 6"/>
          <p:cNvSpPr txBox="1"/>
          <p:nvPr/>
        </p:nvSpPr>
        <p:spPr>
          <a:xfrm>
            <a:off x="822960" y="1691640"/>
            <a:ext cx="6400800" cy="3474720"/>
          </a:xfrm>
          <a:prstGeom prst="rect">
            <a:avLst/>
          </a:prstGeom>
          <a:noFill/>
        </p:spPr>
        <p:txBody>
          <a:bodyPr wrap="square" lIns="45720" rIns="45720" tIns="27432" bIns="27432" anchor="t">
            <a:spAutoFit/>
          </a:bodyPr>
          <a:lstStyle/>
          <a:p>
            <a:pPr algn="l"/>
            <a:r>
              <a:rPr sz="1700" b="0" i="0">
                <a:solidFill>
                  <a:srgbClr val="232323"/>
                </a:solidFill>
                <a:latin typeface="Calibri"/>
              </a:rPr>
              <a:t>Paper meal vouchers can be photographed, copied or presented twice, and nothing at the serving point can tell.</a:t>
            </a:r>
          </a:p>
          <a:p>
            <a:pPr algn="l">
              <a:spcBef>
                <a:spcPts val="600"/>
              </a:spcBef>
            </a:pPr>
            <a:r>
              <a:rPr sz="1700" b="0" i="0">
                <a:solidFill>
                  <a:srgbClr val="232323"/>
                </a:solidFill>
                <a:latin typeface="Calibri"/>
              </a:rPr>
              <a:t>Check-in data is not shown to organisers as it happens, so catering and rooms are planned on guesswork.</a:t>
            </a:r>
          </a:p>
          <a:p>
            <a:pPr algn="l">
              <a:spcBef>
                <a:spcPts val="600"/>
              </a:spcBef>
            </a:pPr>
            <a:r>
              <a:rPr sz="1700" b="0" i="0">
                <a:solidFill>
                  <a:srgbClr val="232323"/>
                </a:solidFill>
                <a:latin typeface="Calibri"/>
              </a:rPr>
              <a:t>Session rooms have capacity limits, but nobody is warned before one overcrowds.</a:t>
            </a:r>
          </a:p>
          <a:p>
            <a:pPr algn="l">
              <a:spcBef>
                <a:spcPts val="600"/>
              </a:spcBef>
            </a:pPr>
            <a:r>
              <a:rPr sz="1700" b="0" i="0">
                <a:solidFill>
                  <a:srgbClr val="232323"/>
                </a:solidFill>
                <a:latin typeface="Calibri"/>
              </a:rPr>
              <a:t>Messages to attendees are one-way and unlogged.</a:t>
            </a:r>
          </a:p>
        </p:txBody>
      </p:sp>
      <p:sp>
        <p:nvSpPr>
          <p:cNvPr id="8" name="Rounded Rectangle 7"/>
          <p:cNvSpPr/>
          <p:nvPr/>
        </p:nvSpPr>
        <p:spPr>
          <a:xfrm>
            <a:off x="7589520" y="1188720"/>
            <a:ext cx="3931920" cy="28346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325880"/>
            <a:ext cx="3566160" cy="411480"/>
          </a:xfrm>
          <a:prstGeom prst="rect">
            <a:avLst/>
          </a:prstGeom>
          <a:noFill/>
        </p:spPr>
        <p:txBody>
          <a:bodyPr wrap="square" lIns="45720" rIns="45720" tIns="27432" bIns="27432" anchor="t">
            <a:spAutoFit/>
          </a:bodyPr>
          <a:lstStyle/>
          <a:p>
            <a:pPr algn="l"/>
            <a:r>
              <a:rPr sz="1700" b="1" i="0">
                <a:solidFill>
                  <a:srgbClr val="192D4B"/>
                </a:solidFill>
                <a:latin typeface="Calibri"/>
              </a:rPr>
              <a:t>Who it is for</a:t>
            </a:r>
          </a:p>
        </p:txBody>
      </p:sp>
      <p:sp>
        <p:nvSpPr>
          <p:cNvPr id="10" name="TextBox 9"/>
          <p:cNvSpPr txBox="1"/>
          <p:nvPr/>
        </p:nvSpPr>
        <p:spPr>
          <a:xfrm>
            <a:off x="7772400" y="1755648"/>
            <a:ext cx="3566160" cy="2148840"/>
          </a:xfrm>
          <a:prstGeom prst="rect">
            <a:avLst/>
          </a:prstGeom>
          <a:noFill/>
        </p:spPr>
        <p:txBody>
          <a:bodyPr wrap="square" lIns="45720" rIns="45720" tIns="27432" bIns="27432" anchor="t">
            <a:spAutoFit/>
          </a:bodyPr>
          <a:lstStyle/>
          <a:p>
            <a:pPr algn="l"/>
            <a:r>
              <a:rPr sz="1500" b="1" i="0">
                <a:solidFill>
                  <a:srgbClr val="232323"/>
                </a:solidFill>
                <a:latin typeface="Calibri"/>
              </a:rPr>
              <a:t>Organisers</a:t>
            </a:r>
            <a:r>
              <a:rPr sz="1500" b="0" i="0">
                <a:solidFill>
                  <a:srgbClr val="232323"/>
                </a:solidFill>
                <a:latin typeface="Calibri"/>
              </a:rPr>
              <a:t>: live dashboard, alerts, reports</a:t>
            </a:r>
          </a:p>
          <a:p>
            <a:pPr algn="l">
              <a:spcBef>
                <a:spcPts val="600"/>
              </a:spcBef>
            </a:pPr>
            <a:r>
              <a:rPr sz="1500" b="1" i="0">
                <a:solidFill>
                  <a:srgbClr val="232323"/>
                </a:solidFill>
                <a:latin typeface="Calibri"/>
              </a:rPr>
              <a:t>Scanner staff</a:t>
            </a:r>
            <a:r>
              <a:rPr sz="1500" b="0" i="0">
                <a:solidFill>
                  <a:srgbClr val="232323"/>
                </a:solidFill>
                <a:latin typeface="Calibri"/>
              </a:rPr>
              <a:t>: meal and session scanning</a:t>
            </a:r>
          </a:p>
          <a:p>
            <a:pPr algn="l">
              <a:spcBef>
                <a:spcPts val="600"/>
              </a:spcBef>
            </a:pPr>
            <a:r>
              <a:rPr sz="1500" b="1" i="0">
                <a:solidFill>
                  <a:srgbClr val="232323"/>
                </a:solidFill>
                <a:latin typeface="Calibri"/>
              </a:rPr>
              <a:t>Attendees</a:t>
            </a:r>
            <a:r>
              <a:rPr sz="1500" b="0" i="0">
                <a:solidFill>
                  <a:srgbClr val="232323"/>
                </a:solidFill>
                <a:latin typeface="Calibri"/>
              </a:rPr>
              <a:t>: their meal vouchers, pass and notifications</a:t>
            </a:r>
          </a:p>
          <a:p>
            <a:pPr algn="l">
              <a:spcBef>
                <a:spcPts val="600"/>
              </a:spcBef>
            </a:pPr>
            <a:r>
              <a:rPr sz="1500" b="1" i="0">
                <a:solidFill>
                  <a:srgbClr val="232323"/>
                </a:solidFill>
                <a:latin typeface="Calibri"/>
              </a:rPr>
              <a:t>Caterers</a:t>
            </a:r>
            <a:r>
              <a:rPr sz="1500" b="0" i="0">
                <a:solidFill>
                  <a:srgbClr val="232323"/>
                </a:solidFill>
                <a:latin typeface="Calibri"/>
              </a:rPr>
              <a:t>: fewer duplicate meals to pay for</a:t>
            </a:r>
          </a:p>
        </p:txBody>
      </p:sp>
      <p:sp>
        <p:nvSpPr>
          <p:cNvPr id="11" name="TextBox 10"/>
          <p:cNvSpPr txBox="1"/>
          <p:nvPr/>
        </p:nvSpPr>
        <p:spPr>
          <a:xfrm>
            <a:off x="822960" y="5486400"/>
            <a:ext cx="10515600" cy="548640"/>
          </a:xfrm>
          <a:prstGeom prst="rect">
            <a:avLst/>
          </a:prstGeom>
          <a:noFill/>
        </p:spPr>
        <p:txBody>
          <a:bodyPr wrap="square" lIns="45720" rIns="45720" tIns="27432" bIns="27432" anchor="t">
            <a:spAutoFit/>
          </a:bodyPr>
          <a:lstStyle/>
          <a:p>
            <a:pPr algn="l"/>
            <a:r>
              <a:rPr sz="1500" b="0" i="1">
                <a:solidFill>
                  <a:srgbClr val="5A6370"/>
                </a:solidFill>
                <a:latin typeface="Calibri"/>
              </a:rPr>
              <a:t>A QR code alone prevents nothing: a photographed code works as well as the real one. Any guarantee has to come from what the server does with a scan.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Aim and Objectives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5</a:t>
            </a:r>
            <a:endParaRPr dirty="0"/>
          </a:p>
        </p:txBody>
      </p:sp>
      <p:sp>
        <p:nvSpPr>
          <p:cNvPr id="6" name="TextBox 5"/>
          <p:cNvSpPr txBox="1"/>
          <p:nvPr/>
        </p:nvSpPr>
        <p:spPr>
          <a:xfrm>
            <a:off x="822960" y="1051560"/>
            <a:ext cx="10607040" cy="731520"/>
          </a:xfrm>
          <a:prstGeom prst="rect">
            <a:avLst/>
          </a:prstGeom>
          <a:noFill/>
        </p:spPr>
        <p:txBody>
          <a:bodyPr wrap="square" lIns="45720" rIns="45720" tIns="27432" bIns="27432" anchor="t">
            <a:spAutoFit/>
          </a:bodyPr>
          <a:lstStyle/>
          <a:p>
            <a:pPr algn="l"/>
            <a:r>
              <a:rPr sz="1600" b="1" i="0">
                <a:solidFill>
                  <a:srgbClr val="232323"/>
                </a:solidFill>
                <a:latin typeface="Calibri"/>
              </a:rPr>
              <a:t>Aim: </a:t>
            </a:r>
            <a:r>
              <a:rPr sz="1600" b="0" i="0">
                <a:solidFill>
                  <a:srgbClr val="232323"/>
                </a:solidFill>
                <a:latin typeface="Calibri"/>
              </a:rPr>
              <a:t>design, build and evaluate the analytics, meals, session capacity, notification and reporting component, giving organisers live insight, fraud-resistant meal redemption and auditable attendee communication.</a:t>
            </a:r>
          </a:p>
        </p:txBody>
      </p:sp>
      <p:sp>
        <p:nvSpPr>
          <p:cNvPr id="7" name="Oval 6"/>
          <p:cNvSpPr/>
          <p:nvPr/>
        </p:nvSpPr>
        <p:spPr>
          <a:xfrm>
            <a:off x="822960" y="201168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1</a:t>
            </a:r>
          </a:p>
        </p:txBody>
      </p:sp>
      <p:sp>
        <p:nvSpPr>
          <p:cNvPr id="8" name="TextBox 7"/>
          <p:cNvSpPr txBox="1"/>
          <p:nvPr/>
        </p:nvSpPr>
        <p:spPr>
          <a:xfrm>
            <a:off x="1508760" y="199339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Analytics dashboard</a:t>
            </a:r>
          </a:p>
        </p:txBody>
      </p:sp>
      <p:sp>
        <p:nvSpPr>
          <p:cNvPr id="9" name="TextBox 8"/>
          <p:cNvSpPr txBox="1"/>
          <p:nvPr/>
        </p:nvSpPr>
        <p:spPr>
          <a:xfrm>
            <a:off x="1508760" y="234086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check-in progress, rates and trends (near-real-time, 30 s poll)</a:t>
            </a:r>
          </a:p>
        </p:txBody>
      </p:sp>
      <p:sp>
        <p:nvSpPr>
          <p:cNvPr id="10" name="Oval 9"/>
          <p:cNvSpPr/>
          <p:nvPr/>
        </p:nvSpPr>
        <p:spPr>
          <a:xfrm>
            <a:off x="6217920" y="201168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2</a:t>
            </a:r>
          </a:p>
        </p:txBody>
      </p:sp>
      <p:sp>
        <p:nvSpPr>
          <p:cNvPr id="11" name="TextBox 10"/>
          <p:cNvSpPr txBox="1"/>
          <p:nvPr/>
        </p:nvSpPr>
        <p:spPr>
          <a:xfrm>
            <a:off x="6903720" y="199339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Single-use meal vouchers</a:t>
            </a:r>
          </a:p>
        </p:txBody>
      </p:sp>
      <p:sp>
        <p:nvSpPr>
          <p:cNvPr id="12" name="TextBox 11"/>
          <p:cNvSpPr txBox="1"/>
          <p:nvPr/>
        </p:nvSpPr>
        <p:spPr>
          <a:xfrm>
            <a:off x="6903720" y="234086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QR redemption across several meal categories</a:t>
            </a:r>
          </a:p>
        </p:txBody>
      </p:sp>
      <p:sp>
        <p:nvSpPr>
          <p:cNvPr id="13" name="Oval 12"/>
          <p:cNvSpPr/>
          <p:nvPr/>
        </p:nvSpPr>
        <p:spPr>
          <a:xfrm>
            <a:off x="822960" y="306324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3</a:t>
            </a:r>
          </a:p>
        </p:txBody>
      </p:sp>
      <p:sp>
        <p:nvSpPr>
          <p:cNvPr id="14" name="TextBox 13"/>
          <p:cNvSpPr txBox="1"/>
          <p:nvPr/>
        </p:nvSpPr>
        <p:spPr>
          <a:xfrm>
            <a:off x="1508760" y="304495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Session capacity</a:t>
            </a:r>
          </a:p>
        </p:txBody>
      </p:sp>
      <p:sp>
        <p:nvSpPr>
          <p:cNvPr id="15" name="TextBox 14"/>
          <p:cNvSpPr txBox="1"/>
          <p:nvPr/>
        </p:nvSpPr>
        <p:spPr>
          <a:xfrm>
            <a:off x="1508760" y="339242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attendance tracking and overcrowding alerts</a:t>
            </a:r>
          </a:p>
        </p:txBody>
      </p:sp>
      <p:sp>
        <p:nvSpPr>
          <p:cNvPr id="16" name="Oval 15"/>
          <p:cNvSpPr/>
          <p:nvPr/>
        </p:nvSpPr>
        <p:spPr>
          <a:xfrm>
            <a:off x="6217920" y="306324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4</a:t>
            </a:r>
          </a:p>
        </p:txBody>
      </p:sp>
      <p:sp>
        <p:nvSpPr>
          <p:cNvPr id="17" name="TextBox 16"/>
          <p:cNvSpPr txBox="1"/>
          <p:nvPr/>
        </p:nvSpPr>
        <p:spPr>
          <a:xfrm>
            <a:off x="6903720" y="304495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Push notifications</a:t>
            </a:r>
          </a:p>
        </p:txBody>
      </p:sp>
      <p:sp>
        <p:nvSpPr>
          <p:cNvPr id="18" name="TextBox 17"/>
          <p:cNvSpPr txBox="1"/>
          <p:nvPr/>
        </p:nvSpPr>
        <p:spPr>
          <a:xfrm>
            <a:off x="6903720" y="339242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with a delivery record for each recipient</a:t>
            </a:r>
          </a:p>
        </p:txBody>
      </p:sp>
      <p:sp>
        <p:nvSpPr>
          <p:cNvPr id="19" name="Oval 18"/>
          <p:cNvSpPr/>
          <p:nvPr/>
        </p:nvSpPr>
        <p:spPr>
          <a:xfrm>
            <a:off x="822960" y="411480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5</a:t>
            </a:r>
          </a:p>
        </p:txBody>
      </p:sp>
      <p:sp>
        <p:nvSpPr>
          <p:cNvPr id="20" name="TextBox 19"/>
          <p:cNvSpPr txBox="1"/>
          <p:nvPr/>
        </p:nvSpPr>
        <p:spPr>
          <a:xfrm>
            <a:off x="1508760" y="409651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Reports</a:t>
            </a:r>
          </a:p>
        </p:txBody>
      </p:sp>
      <p:sp>
        <p:nvSpPr>
          <p:cNvPr id="21" name="TextBox 20"/>
          <p:cNvSpPr txBox="1"/>
          <p:nvPr/>
        </p:nvSpPr>
        <p:spPr>
          <a:xfrm>
            <a:off x="1508760" y="444398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CSV export for organisers</a:t>
            </a:r>
          </a:p>
        </p:txBody>
      </p:sp>
      <p:sp>
        <p:nvSpPr>
          <p:cNvPr id="22" name="Oval 21"/>
          <p:cNvSpPr/>
          <p:nvPr/>
        </p:nvSpPr>
        <p:spPr>
          <a:xfrm>
            <a:off x="6217920" y="411480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6</a:t>
            </a:r>
          </a:p>
        </p:txBody>
      </p:sp>
      <p:sp>
        <p:nvSpPr>
          <p:cNvPr id="23" name="TextBox 22"/>
          <p:cNvSpPr txBox="1"/>
          <p:nvPr/>
        </p:nvSpPr>
        <p:spPr>
          <a:xfrm>
            <a:off x="6903720" y="409651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Evaluation</a:t>
            </a:r>
          </a:p>
        </p:txBody>
      </p:sp>
      <p:sp>
        <p:nvSpPr>
          <p:cNvPr id="24" name="TextBox 23"/>
          <p:cNvSpPr txBox="1"/>
          <p:nvPr/>
        </p:nvSpPr>
        <p:spPr>
          <a:xfrm>
            <a:off x="6903720" y="444398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against the proposal's Table 3 targets and a manual baseline</a:t>
            </a:r>
          </a:p>
        </p:txBody>
      </p:sp>
      <p:sp>
        <p:nvSpPr>
          <p:cNvPr id="25" name="Oval 24"/>
          <p:cNvSpPr/>
          <p:nvPr/>
        </p:nvSpPr>
        <p:spPr>
          <a:xfrm>
            <a:off x="822960" y="516636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7</a:t>
            </a:r>
          </a:p>
        </p:txBody>
      </p:sp>
      <p:sp>
        <p:nvSpPr>
          <p:cNvPr id="26" name="TextBox 25"/>
          <p:cNvSpPr txBox="1"/>
          <p:nvPr/>
        </p:nvSpPr>
        <p:spPr>
          <a:xfrm>
            <a:off x="1508760" y="5148072"/>
            <a:ext cx="4480560" cy="365760"/>
          </a:xfrm>
          <a:prstGeom prst="rect">
            <a:avLst/>
          </a:prstGeom>
          <a:noFill/>
        </p:spPr>
        <p:txBody>
          <a:bodyPr wrap="square" lIns="45720" rIns="45720" tIns="27432" bIns="27432" anchor="t">
            <a:spAutoFit/>
          </a:bodyPr>
          <a:lstStyle/>
          <a:p>
            <a:pPr algn="l"/>
            <a:r>
              <a:rPr sz="1700" b="1" i="0">
                <a:solidFill>
                  <a:srgbClr val="192D4B"/>
                </a:solidFill>
                <a:latin typeface="Calibri"/>
              </a:rPr>
              <a:t>Documentation</a:t>
            </a:r>
          </a:p>
        </p:txBody>
      </p:sp>
      <p:sp>
        <p:nvSpPr>
          <p:cNvPr id="27" name="TextBox 26"/>
          <p:cNvSpPr txBox="1"/>
          <p:nvPr/>
        </p:nvSpPr>
        <p:spPr>
          <a:xfrm>
            <a:off x="1508760" y="5495544"/>
            <a:ext cx="4480560" cy="548640"/>
          </a:xfrm>
          <a:prstGeom prst="rect">
            <a:avLst/>
          </a:prstGeom>
          <a:noFill/>
        </p:spPr>
        <p:txBody>
          <a:bodyPr wrap="square" lIns="45720" rIns="45720" tIns="27432" bIns="27432" anchor="t">
            <a:spAutoFit/>
          </a:bodyPr>
          <a:lstStyle/>
          <a:p>
            <a:pPr algn="l"/>
            <a:r>
              <a:rPr sz="1400" b="0" i="0">
                <a:solidFill>
                  <a:srgbClr val="232323"/>
                </a:solidFill>
                <a:latin typeface="Calibri"/>
              </a:rPr>
              <a:t>technical documentation and a paper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System Architecture</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6</a:t>
            </a:r>
            <a:endParaRPr dirty="0"/>
          </a:p>
        </p:txBody>
      </p:sp>
      <p:sp>
        <p:nvSpPr>
          <p:cNvPr id="6" name="Rounded Rectangle 5"/>
          <p:cNvSpPr/>
          <p:nvPr/>
        </p:nvSpPr>
        <p:spPr>
          <a:xfrm>
            <a:off x="822960" y="1188720"/>
            <a:ext cx="10607040" cy="20116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261872"/>
            <a:ext cx="7315200" cy="365760"/>
          </a:xfrm>
          <a:prstGeom prst="rect">
            <a:avLst/>
          </a:prstGeom>
          <a:noFill/>
        </p:spPr>
        <p:txBody>
          <a:bodyPr wrap="square" lIns="45720" rIns="45720" tIns="27432" bIns="27432" anchor="t">
            <a:spAutoFit/>
          </a:bodyPr>
          <a:lstStyle/>
          <a:p>
            <a:pPr algn="l"/>
            <a:r>
              <a:rPr sz="1600" b="1" i="0">
                <a:solidFill>
                  <a:srgbClr val="192D4B"/>
                </a:solidFill>
                <a:latin typeface="Calibri"/>
              </a:rPr>
              <a:t>ConferenceCheck Mobile: Flutter app (Android)</a:t>
            </a:r>
          </a:p>
        </p:txBody>
      </p:sp>
      <p:sp>
        <p:nvSpPr>
          <p:cNvPr id="8" name="Rounded Rectangle 7"/>
          <p:cNvSpPr/>
          <p:nvPr/>
        </p:nvSpPr>
        <p:spPr>
          <a:xfrm>
            <a:off x="1005840" y="1691640"/>
            <a:ext cx="4663440" cy="1325880"/>
          </a:xfrm>
          <a:prstGeom prst="roundRect">
            <a:avLst>
              <a:gd name="adj" fmla="val 8000"/>
            </a:avLst>
          </a:prstGeom>
          <a:solidFill>
            <a:srgbClr val="FFFFFF"/>
          </a:solidFill>
          <a:ln w="15875">
            <a:solidFill>
              <a:srgbClr val="B8C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755648"/>
            <a:ext cx="4389120" cy="1234440"/>
          </a:xfrm>
          <a:prstGeom prst="rect">
            <a:avLst/>
          </a:prstGeom>
          <a:noFill/>
        </p:spPr>
        <p:txBody>
          <a:bodyPr wrap="square" lIns="45720" rIns="45720" tIns="27432" bIns="27432" anchor="t">
            <a:spAutoFit/>
          </a:bodyPr>
          <a:lstStyle/>
          <a:p>
            <a:pPr algn="l"/>
            <a:r>
              <a:rPr sz="1400" b="1" i="0">
                <a:solidFill>
                  <a:srgbClr val="5A6370"/>
                </a:solidFill>
                <a:latin typeface="Calibri"/>
              </a:rPr>
              <a:t>Component 4.3a</a:t>
            </a:r>
            <a:r>
              <a:rPr sz="1400" b="0" i="0">
                <a:solidFill>
                  <a:srgbClr val="5A6370"/>
                </a:solidFill>
                <a:latin typeface="Calibri"/>
              </a:rPr>
              <a:t> (separate project)</a:t>
            </a:r>
          </a:p>
          <a:p>
            <a:pPr algn="l">
              <a:spcBef>
                <a:spcPts val="600"/>
              </a:spcBef>
            </a:pPr>
            <a:r>
              <a:rPr sz="1400" b="0" i="0">
                <a:solidFill>
                  <a:srgbClr val="5A6370"/>
                </a:solidFill>
                <a:latin typeface="Calibri"/>
              </a:rPr>
              <a:t>Check-in capture, offline sync engine</a:t>
            </a:r>
          </a:p>
        </p:txBody>
      </p:sp>
      <p:sp>
        <p:nvSpPr>
          <p:cNvPr id="10" name="Rounded Rectangle 9"/>
          <p:cNvSpPr/>
          <p:nvPr/>
        </p:nvSpPr>
        <p:spPr>
          <a:xfrm>
            <a:off x="5852160" y="1691640"/>
            <a:ext cx="5394960" cy="132588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89320" y="1755648"/>
            <a:ext cx="5120640" cy="1234440"/>
          </a:xfrm>
          <a:prstGeom prst="rect">
            <a:avLst/>
          </a:prstGeom>
          <a:noFill/>
        </p:spPr>
        <p:txBody>
          <a:bodyPr wrap="square" lIns="45720" rIns="45720" tIns="27432" bIns="27432" anchor="t">
            <a:spAutoFit/>
          </a:bodyPr>
          <a:lstStyle/>
          <a:p>
            <a:pPr algn="l"/>
            <a:r>
              <a:rPr sz="1400" b="1" i="0">
                <a:solidFill>
                  <a:srgbClr val="FFFFFF"/>
                </a:solidFill>
                <a:latin typeface="Calibri"/>
              </a:rPr>
              <a:t>Component 4.3b</a:t>
            </a:r>
            <a:r>
              <a:rPr sz="1400" b="0" i="0">
                <a:solidFill>
                  <a:srgbClr val="FFFFFF"/>
                </a:solidFill>
                <a:latin typeface="Calibri"/>
              </a:rPr>
              <a:t> (this project)</a:t>
            </a:r>
          </a:p>
          <a:p>
            <a:pPr algn="l">
              <a:spcBef>
                <a:spcPts val="600"/>
              </a:spcBef>
            </a:pPr>
            <a:r>
              <a:rPr sz="1400" b="0" i="0">
                <a:solidFill>
                  <a:srgbClr val="FFFFFF"/>
                </a:solidFill>
                <a:latin typeface="Calibri"/>
              </a:rPr>
              <a:t>Dashboard · meal vouchers · session capacity · notification inbox · reports</a:t>
            </a:r>
          </a:p>
        </p:txBody>
      </p:sp>
      <p:sp>
        <p:nvSpPr>
          <p:cNvPr id="12" name="Down Arrow 11"/>
          <p:cNvSpPr/>
          <p:nvPr/>
        </p:nvSpPr>
        <p:spPr>
          <a:xfrm>
            <a:off x="5760720" y="3291840"/>
            <a:ext cx="548640" cy="457200"/>
          </a:xfrm>
          <a:prstGeom prst="downArrow">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310128"/>
            <a:ext cx="4937760" cy="457200"/>
          </a:xfrm>
          <a:prstGeom prst="rect">
            <a:avLst/>
          </a:prstGeom>
          <a:noFill/>
        </p:spPr>
        <p:txBody>
          <a:bodyPr wrap="square" lIns="45720" rIns="45720" tIns="27432" bIns="27432" anchor="t">
            <a:spAutoFit/>
          </a:bodyPr>
          <a:lstStyle/>
          <a:p>
            <a:pPr algn="l"/>
            <a:r>
              <a:rPr sz="1300" b="0" i="0">
                <a:solidFill>
                  <a:srgbClr val="5A6370"/>
                </a:solidFill>
                <a:latin typeface="Calibri"/>
              </a:rPr>
              <a:t>REST API, Sanctum bearer tokens, JSON envelope</a:t>
            </a:r>
          </a:p>
        </p:txBody>
      </p:sp>
      <p:sp>
        <p:nvSpPr>
          <p:cNvPr id="14" name="Rounded Rectangle 13"/>
          <p:cNvSpPr/>
          <p:nvPr/>
        </p:nvSpPr>
        <p:spPr>
          <a:xfrm>
            <a:off x="822960" y="3840480"/>
            <a:ext cx="6949440" cy="14630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31920"/>
            <a:ext cx="6675120" cy="1325880"/>
          </a:xfrm>
          <a:prstGeom prst="rect">
            <a:avLst/>
          </a:prstGeom>
          <a:noFill/>
        </p:spPr>
        <p:txBody>
          <a:bodyPr wrap="square" lIns="45720" rIns="45720" tIns="27432" bIns="27432" anchor="t">
            <a:spAutoFit/>
          </a:bodyPr>
          <a:lstStyle/>
          <a:p>
            <a:pPr algn="l"/>
            <a:r>
              <a:rPr sz="1500" b="1" i="0">
                <a:solidFill>
                  <a:srgbClr val="FFFFFF"/>
                </a:solidFill>
                <a:latin typeface="Calibri"/>
              </a:rPr>
              <a:t>Standalone Laravel 13 API</a:t>
            </a:r>
          </a:p>
          <a:p>
            <a:pPr algn="l">
              <a:spcBef>
                <a:spcPts val="600"/>
              </a:spcBef>
            </a:pPr>
            <a:r>
              <a:rPr sz="1500" b="0" i="0">
                <a:solidFill>
                  <a:srgbClr val="FFFFFF"/>
                </a:solidFill>
                <a:latin typeface="Calibri"/>
              </a:rPr>
              <a:t>47 routes · role checks per event · minimal check-in stub</a:t>
            </a:r>
          </a:p>
          <a:p>
            <a:pPr algn="l">
              <a:spcBef>
                <a:spcPts val="600"/>
              </a:spcBef>
            </a:pPr>
            <a:r>
              <a:rPr sz="1500" b="1" i="0">
                <a:solidFill>
                  <a:srgbClr val="FFFFFF"/>
                </a:solidFill>
                <a:latin typeface="Calibri"/>
              </a:rPr>
              <a:t>PostgreSQL 18</a:t>
            </a:r>
          </a:p>
        </p:txBody>
      </p:sp>
      <p:sp>
        <p:nvSpPr>
          <p:cNvPr id="16" name="Rounded Rectangle 15"/>
          <p:cNvSpPr/>
          <p:nvPr/>
        </p:nvSpPr>
        <p:spPr>
          <a:xfrm>
            <a:off x="8046720" y="3840480"/>
            <a:ext cx="3383280" cy="146304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3931920"/>
            <a:ext cx="3108960" cy="1325880"/>
          </a:xfrm>
          <a:prstGeom prst="rect">
            <a:avLst/>
          </a:prstGeom>
          <a:noFill/>
        </p:spPr>
        <p:txBody>
          <a:bodyPr wrap="square" lIns="45720" rIns="45720" tIns="27432" bIns="27432" anchor="t">
            <a:spAutoFit/>
          </a:bodyPr>
          <a:lstStyle/>
          <a:p>
            <a:pPr algn="l"/>
            <a:r>
              <a:rPr sz="1400" b="1" i="0">
                <a:solidFill>
                  <a:srgbClr val="232323"/>
                </a:solidFill>
                <a:latin typeface="Calibri"/>
              </a:rPr>
              <a:t>Firebase Cloud Messaging</a:t>
            </a:r>
          </a:p>
          <a:p>
            <a:pPr algn="l">
              <a:spcBef>
                <a:spcPts val="600"/>
              </a:spcBef>
            </a:pPr>
            <a:r>
              <a:rPr sz="1400" b="0" i="0">
                <a:solidFill>
                  <a:srgbClr val="232323"/>
                </a:solidFill>
                <a:latin typeface="Calibri"/>
              </a:rPr>
              <a:t>push to devices, best effort; the in-app inbox is the guaranteed channel</a:t>
            </a:r>
          </a:p>
        </p:txBody>
      </p:sp>
      <p:sp>
        <p:nvSpPr>
          <p:cNvPr id="18" name="TextBox 17"/>
          <p:cNvSpPr txBox="1"/>
          <p:nvPr/>
        </p:nvSpPr>
        <p:spPr>
          <a:xfrm>
            <a:off x="822960" y="5532120"/>
            <a:ext cx="10607040" cy="548640"/>
          </a:xfrm>
          <a:prstGeom prst="rect">
            <a:avLst/>
          </a:prstGeom>
          <a:noFill/>
        </p:spPr>
        <p:txBody>
          <a:bodyPr wrap="square" lIns="45720" rIns="45720" tIns="27432" bIns="27432" anchor="t">
            <a:spAutoFit/>
          </a:bodyPr>
          <a:lstStyle/>
          <a:p>
            <a:pPr algn="l"/>
            <a:r>
              <a:rPr sz="1400" b="0" i="0">
                <a:solidFill>
                  <a:srgbClr val="5A6370"/>
                </a:solidFill>
                <a:latin typeface="Calibri"/>
              </a:rPr>
              <a:t>App layers: Flutter widgets → Riverpod providers → repositories → one authenticated REST client. Offline scans go to a durable queue on the device.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23220"/>
          </a:xfrm>
          <a:prstGeom prst="rect">
            <a:avLst/>
          </a:prstGeom>
          <a:noFill/>
        </p:spPr>
        <p:txBody>
          <a:bodyPr wrap="none">
            <a:spAutoFit/>
          </a:bodyPr>
          <a:lstStyle/>
          <a:p>
            <a:pPr>
              <a:defRPr sz="2800" b="1">
                <a:solidFill>
                  <a:srgbClr val="192D4B"/>
                </a:solidFill>
              </a:defRPr>
            </a:pPr>
            <a:r>
              <a:rPr dirty="0"/>
              <a:t>Database / Data Design</a:t>
            </a:r>
            <a:endParaRPr dirty="0"/>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7</a:t>
            </a:r>
            <a:endParaRPr dirty="0"/>
          </a:p>
        </p:txBody>
      </p:sp>
      <p:graphicFrame>
        <p:nvGraphicFramePr>
          <p:cNvPr id="6" name="Table 5"/>
          <p:cNvGraphicFramePr>
            <a:graphicFrameLocks noGrp="1"/>
          </p:cNvGraphicFramePr>
          <p:nvPr/>
        </p:nvGraphicFramePr>
        <p:xfrm>
          <a:off x="822960" y="1188720"/>
          <a:ext cx="10607040" cy="3520440"/>
        </p:xfrm>
        <a:graphic>
          <a:graphicData uri="http://schemas.openxmlformats.org/drawingml/2006/table">
            <a:tbl>
              <a:tblPr firstRow="1" bandRow="1">
                <a:tableStyleId>{5940675A-B579-460E-94D1-54222C63F5DA}</a:tableStyleId>
              </a:tblPr>
              <a:tblGrid>
                <a:gridCol w="3108960"/>
                <a:gridCol w="3566160"/>
                <a:gridCol w="3931920"/>
              </a:tblGrid>
              <a:tr h="502920">
                <a:tc>
                  <a:txBody>
                    <a:bodyPr wrap="square"/>
                    <a:lstStyle/>
                    <a:p>
                      <a:r>
                        <a:rPr sz="1400" b="1">
                          <a:solidFill>
                            <a:srgbClr val="FFFFFF"/>
                          </a:solidFill>
                          <a:latin typeface="Calibri"/>
                        </a:rPr>
                        <a:t>Relation</a:t>
                      </a:r>
                    </a:p>
                  </a:txBody>
                  <a:tcPr marL="73152" marR="73152" marT="36576" marB="36576" anchor="ctr">
                    <a:solidFill>
                      <a:srgbClr val="192D4B"/>
                    </a:solidFill>
                  </a:tcPr>
                </a:tc>
                <a:tc>
                  <a:txBody>
                    <a:bodyPr wrap="square"/>
                    <a:lstStyle/>
                    <a:p>
                      <a:r>
                        <a:rPr sz="1400" b="1">
                          <a:solidFill>
                            <a:srgbClr val="FFFFFF"/>
                          </a:solidFill>
                          <a:latin typeface="Calibri"/>
                        </a:rPr>
                        <a:t>Purpose</a:t>
                      </a:r>
                    </a:p>
                  </a:txBody>
                  <a:tcPr marL="73152" marR="73152" marT="36576" marB="36576" anchor="ctr">
                    <a:solidFill>
                      <a:srgbClr val="192D4B"/>
                    </a:solidFill>
                  </a:tcPr>
                </a:tc>
                <a:tc>
                  <a:txBody>
                    <a:bodyPr wrap="square"/>
                    <a:lstStyle/>
                    <a:p>
                      <a:r>
                        <a:rPr sz="1400" b="1">
                          <a:solidFill>
                            <a:srgbClr val="FFFFFF"/>
                          </a:solidFill>
                          <a:latin typeface="Calibri"/>
                        </a:rPr>
                        <a:t>Integrity constraint that matters</a:t>
                      </a:r>
                    </a:p>
                  </a:txBody>
                  <a:tcPr marL="73152" marR="73152" marT="36576" marB="36576" anchor="ctr">
                    <a:solidFill>
                      <a:srgbClr val="192D4B"/>
                    </a:solidFill>
                  </a:tcPr>
                </a:tc>
              </a:tr>
              <a:tr h="502920">
                <a:tc>
                  <a:txBody>
                    <a:bodyPr wrap="square"/>
                    <a:lstStyle/>
                    <a:p>
                      <a:r>
                        <a:rPr sz="1400">
                          <a:solidFill>
                            <a:srgbClr val="232323"/>
                          </a:solidFill>
                          <a:latin typeface="Calibri"/>
                        </a:rPr>
                        <a:t>meal_vouchers</a:t>
                      </a:r>
                    </a:p>
                  </a:txBody>
                  <a:tcPr marL="73152" marR="73152" marT="36576" marB="36576" anchor="ctr">
                    <a:solidFill>
                      <a:srgbClr val="FFFFFF"/>
                    </a:solidFill>
                  </a:tcPr>
                </a:tc>
                <a:tc>
                  <a:txBody>
                    <a:bodyPr wrap="square"/>
                    <a:lstStyle/>
                    <a:p>
                      <a:r>
                        <a:rPr sz="1400">
                          <a:solidFill>
                            <a:srgbClr val="232323"/>
                          </a:solidFill>
                          <a:latin typeface="Calibri"/>
                        </a:rPr>
                        <a:t>one voucher per attendee per meal category</a:t>
                      </a:r>
                    </a:p>
                  </a:txBody>
                  <a:tcPr marL="73152" marR="73152" marT="36576" marB="36576" anchor="ctr">
                    <a:solidFill>
                      <a:srgbClr val="FFFFFF"/>
                    </a:solidFill>
                  </a:tcPr>
                </a:tc>
                <a:tc>
                  <a:txBody>
                    <a:bodyPr wrap="square"/>
                    <a:lstStyle/>
                    <a:p>
                      <a:r>
                        <a:rPr sz="1400">
                          <a:solidFill>
                            <a:srgbClr val="232323"/>
                          </a:solidFill>
                          <a:latin typeface="Calibri"/>
                        </a:rPr>
                        <a:t>unique qr_token; unique (attendee, category)</a:t>
                      </a:r>
                    </a:p>
                  </a:txBody>
                  <a:tcPr marL="73152" marR="73152" marT="36576" marB="36576" anchor="ctr">
                    <a:solidFill>
                      <a:srgbClr val="FFFFFF"/>
                    </a:solidFill>
                  </a:tcPr>
                </a:tc>
              </a:tr>
              <a:tr h="502920">
                <a:tc>
                  <a:txBody>
                    <a:bodyPr wrap="square"/>
                    <a:lstStyle/>
                    <a:p>
                      <a:r>
                        <a:rPr sz="1400">
                          <a:solidFill>
                            <a:srgbClr val="232323"/>
                          </a:solidFill>
                          <a:latin typeface="Calibri"/>
                        </a:rPr>
                        <a:t>meal_redemptions</a:t>
                      </a:r>
                    </a:p>
                  </a:txBody>
                  <a:tcPr marL="73152" marR="73152" marT="36576" marB="36576" anchor="ctr">
                    <a:solidFill>
                      <a:srgbClr val="EEF2F7"/>
                    </a:solidFill>
                  </a:tcPr>
                </a:tc>
                <a:tc>
                  <a:txBody>
                    <a:bodyPr wrap="square"/>
                    <a:lstStyle/>
                    <a:p>
                      <a:r>
                        <a:rPr sz="1400">
                          <a:solidFill>
                            <a:srgbClr val="232323"/>
                          </a:solidFill>
                          <a:latin typeface="Calibri"/>
                        </a:rPr>
                        <a:t>append-only record of each redemption</a:t>
                      </a:r>
                    </a:p>
                  </a:txBody>
                  <a:tcPr marL="73152" marR="73152" marT="36576" marB="36576" anchor="ctr">
                    <a:solidFill>
                      <a:srgbClr val="EEF2F7"/>
                    </a:solidFill>
                  </a:tcPr>
                </a:tc>
                <a:tc>
                  <a:txBody>
                    <a:bodyPr wrap="square"/>
                    <a:lstStyle/>
                    <a:p>
                      <a:r>
                        <a:rPr sz="1400">
                          <a:solidFill>
                            <a:srgbClr val="232323"/>
                          </a:solidFill>
                          <a:latin typeface="Calibri"/>
                        </a:rPr>
                        <a:t>unique meal_voucher_id = single use; deletes restricted, not cascaded</a:t>
                      </a:r>
                    </a:p>
                  </a:txBody>
                  <a:tcPr marL="73152" marR="73152" marT="36576" marB="36576" anchor="ctr">
                    <a:solidFill>
                      <a:srgbClr val="EEF2F7"/>
                    </a:solidFill>
                  </a:tcPr>
                </a:tc>
              </a:tr>
              <a:tr h="502920">
                <a:tc>
                  <a:txBody>
                    <a:bodyPr wrap="square"/>
                    <a:lstStyle/>
                    <a:p>
                      <a:r>
                        <a:rPr sz="1400">
                          <a:solidFill>
                            <a:srgbClr val="232323"/>
                          </a:solidFill>
                          <a:latin typeface="Calibri"/>
                        </a:rPr>
                        <a:t>meal_categories</a:t>
                      </a:r>
                    </a:p>
                  </a:txBody>
                  <a:tcPr marL="73152" marR="73152" marT="36576" marB="36576" anchor="ctr">
                    <a:solidFill>
                      <a:srgbClr val="FFFFFF"/>
                    </a:solidFill>
                  </a:tcPr>
                </a:tc>
                <a:tc>
                  <a:txBody>
                    <a:bodyPr wrap="square"/>
                    <a:lstStyle/>
                    <a:p>
                      <a:r>
                        <a:rPr sz="1400">
                          <a:solidFill>
                            <a:srgbClr val="232323"/>
                          </a:solidFill>
                          <a:latin typeface="Calibri"/>
                        </a:rPr>
                        <a:t>Breakfast, Lunch, Supper windows</a:t>
                      </a:r>
                    </a:p>
                  </a:txBody>
                  <a:tcPr marL="73152" marR="73152" marT="36576" marB="36576" anchor="ctr">
                    <a:solidFill>
                      <a:srgbClr val="FFFFFF"/>
                    </a:solidFill>
                  </a:tcPr>
                </a:tc>
                <a:tc>
                  <a:txBody>
                    <a:bodyPr wrap="square"/>
                    <a:lstStyle/>
                    <a:p>
                      <a:r>
                        <a:rPr sz="1400">
                          <a:solidFill>
                            <a:srgbClr val="232323"/>
                          </a:solidFill>
                          <a:latin typeface="Calibri"/>
                        </a:rPr>
                        <a:t>owned by the event; time-windowed</a:t>
                      </a:r>
                    </a:p>
                  </a:txBody>
                  <a:tcPr marL="73152" marR="73152" marT="36576" marB="36576" anchor="ctr">
                    <a:solidFill>
                      <a:srgbClr val="FFFFFF"/>
                    </a:solidFill>
                  </a:tcPr>
                </a:tc>
              </a:tr>
              <a:tr h="502920">
                <a:tc>
                  <a:txBody>
                    <a:bodyPr wrap="square"/>
                    <a:lstStyle/>
                    <a:p>
                      <a:r>
                        <a:rPr sz="1400">
                          <a:solidFill>
                            <a:srgbClr val="232323"/>
                          </a:solidFill>
                          <a:latin typeface="Calibri"/>
                        </a:rPr>
                        <a:t>event_sessions / session_attendance</a:t>
                      </a:r>
                    </a:p>
                  </a:txBody>
                  <a:tcPr marL="73152" marR="73152" marT="36576" marB="36576" anchor="ctr">
                    <a:solidFill>
                      <a:srgbClr val="EEF2F7"/>
                    </a:solidFill>
                  </a:tcPr>
                </a:tc>
                <a:tc>
                  <a:txBody>
                    <a:bodyPr wrap="square"/>
                    <a:lstStyle/>
                    <a:p>
                      <a:r>
                        <a:rPr sz="1400">
                          <a:solidFill>
                            <a:srgbClr val="232323"/>
                          </a:solidFill>
                          <a:latin typeface="Calibri"/>
                        </a:rPr>
                        <a:t>sessions and who attended</a:t>
                      </a:r>
                    </a:p>
                  </a:txBody>
                  <a:tcPr marL="73152" marR="73152" marT="36576" marB="36576" anchor="ctr">
                    <a:solidFill>
                      <a:srgbClr val="EEF2F7"/>
                    </a:solidFill>
                  </a:tcPr>
                </a:tc>
                <a:tc>
                  <a:txBody>
                    <a:bodyPr wrap="square"/>
                    <a:lstStyle/>
                    <a:p>
                      <a:r>
                        <a:rPr sz="1400">
                          <a:solidFill>
                            <a:srgbClr val="232323"/>
                          </a:solidFill>
                          <a:latin typeface="Calibri"/>
                        </a:rPr>
                        <a:t>unique (session, attendee) stops double counting</a:t>
                      </a:r>
                    </a:p>
                  </a:txBody>
                  <a:tcPr marL="73152" marR="73152" marT="36576" marB="36576" anchor="ctr">
                    <a:solidFill>
                      <a:srgbClr val="EEF2F7"/>
                    </a:solidFill>
                  </a:tcPr>
                </a:tc>
              </a:tr>
              <a:tr h="502920">
                <a:tc>
                  <a:txBody>
                    <a:bodyPr wrap="square"/>
                    <a:lstStyle/>
                    <a:p>
                      <a:r>
                        <a:rPr sz="1400">
                          <a:solidFill>
                            <a:srgbClr val="232323"/>
                          </a:solidFill>
                          <a:latin typeface="Calibri"/>
                        </a:rPr>
                        <a:t>attendees</a:t>
                      </a:r>
                    </a:p>
                  </a:txBody>
                  <a:tcPr marL="73152" marR="73152" marT="36576" marB="36576" anchor="ctr">
                    <a:solidFill>
                      <a:srgbClr val="FFFFFF"/>
                    </a:solidFill>
                  </a:tcPr>
                </a:tc>
                <a:tc>
                  <a:txBody>
                    <a:bodyPr wrap="square"/>
                    <a:lstStyle/>
                    <a:p>
                      <a:r>
                        <a:rPr sz="1400">
                          <a:solidFill>
                            <a:srgbClr val="232323"/>
                          </a:solidFill>
                          <a:latin typeface="Calibri"/>
                        </a:rPr>
                        <a:t>attendee records, shared with 4.3a</a:t>
                      </a:r>
                    </a:p>
                  </a:txBody>
                  <a:tcPr marL="73152" marR="73152" marT="36576" marB="36576" anchor="ctr">
                    <a:solidFill>
                      <a:srgbClr val="FFFFFF"/>
                    </a:solidFill>
                  </a:tcPr>
                </a:tc>
                <a:tc>
                  <a:txBody>
                    <a:bodyPr wrap="square"/>
                    <a:lstStyle/>
                    <a:p>
                      <a:r>
                        <a:rPr sz="1400">
                          <a:solidFill>
                            <a:srgbClr val="232323"/>
                          </a:solidFill>
                          <a:latin typeface="Calibri"/>
                        </a:rPr>
                        <a:t>unique ticket_code and qr_token</a:t>
                      </a:r>
                    </a:p>
                  </a:txBody>
                  <a:tcPr marL="73152" marR="73152" marT="36576" marB="36576" anchor="ctr">
                    <a:solidFill>
                      <a:srgbClr val="FFFFFF"/>
                    </a:solidFill>
                  </a:tcPr>
                </a:tc>
              </a:tr>
              <a:tr h="502920">
                <a:tc>
                  <a:txBody>
                    <a:bodyPr wrap="square"/>
                    <a:lstStyle/>
                    <a:p>
                      <a:r>
                        <a:rPr sz="1400">
                          <a:solidFill>
                            <a:srgbClr val="232323"/>
                          </a:solidFill>
                          <a:latin typeface="Calibri"/>
                        </a:rPr>
                        <a:t>device_tokens / notification_recipients</a:t>
                      </a:r>
                    </a:p>
                  </a:txBody>
                  <a:tcPr marL="73152" marR="73152" marT="36576" marB="36576" anchor="ctr">
                    <a:solidFill>
                      <a:srgbClr val="EEF2F7"/>
                    </a:solidFill>
                  </a:tcPr>
                </a:tc>
                <a:tc>
                  <a:txBody>
                    <a:bodyPr wrap="square"/>
                    <a:lstStyle/>
                    <a:p>
                      <a:r>
                        <a:rPr sz="1400">
                          <a:solidFill>
                            <a:srgbClr val="232323"/>
                          </a:solidFill>
                          <a:latin typeface="Calibri"/>
                        </a:rPr>
                        <a:t>push registration and per-recipient delivery</a:t>
                      </a:r>
                    </a:p>
                  </a:txBody>
                  <a:tcPr marL="73152" marR="73152" marT="36576" marB="36576" anchor="ctr">
                    <a:solidFill>
                      <a:srgbClr val="EEF2F7"/>
                    </a:solidFill>
                  </a:tcPr>
                </a:tc>
                <a:tc>
                  <a:txBody>
                    <a:bodyPr wrap="square"/>
                    <a:lstStyle/>
                    <a:p>
                      <a:r>
                        <a:rPr sz="1400">
                          <a:solidFill>
                            <a:srgbClr val="232323"/>
                          </a:solidFill>
                          <a:latin typeface="Calibri"/>
                        </a:rPr>
                        <a:t>delivery auditable per user</a:t>
                      </a:r>
                    </a:p>
                  </a:txBody>
                  <a:tcPr marL="73152" marR="73152" marT="36576" marB="36576" anchor="ctr">
                    <a:solidFill>
                      <a:srgbClr val="EEF2F7"/>
                    </a:solidFill>
                  </a:tcPr>
                </a:tc>
              </a:tr>
            </a:tbl>
          </a:graphicData>
        </a:graphic>
      </p:graphicFrame>
      <p:sp>
        <p:nvSpPr>
          <p:cNvPr id="7" name="TextBox 6"/>
          <p:cNvSpPr txBox="1"/>
          <p:nvPr/>
        </p:nvSpPr>
        <p:spPr>
          <a:xfrm>
            <a:off x="822960" y="4937760"/>
            <a:ext cx="10607040" cy="822960"/>
          </a:xfrm>
          <a:prstGeom prst="rect">
            <a:avLst/>
          </a:prstGeom>
          <a:noFill/>
        </p:spPr>
        <p:txBody>
          <a:bodyPr wrap="square" lIns="45720" rIns="45720" tIns="27432" bIns="27432" anchor="t">
            <a:spAutoFit/>
          </a:bodyPr>
          <a:lstStyle/>
          <a:p>
            <a:pPr algn="l"/>
            <a:r>
              <a:rPr sz="1600" b="1" i="0">
                <a:solidFill>
                  <a:srgbClr val="232323"/>
                </a:solidFill>
                <a:latin typeface="Calibri"/>
              </a:rPr>
              <a:t>Design decision: </a:t>
            </a:r>
            <a:r>
              <a:rPr sz="1600" b="0" i="0">
                <a:solidFill>
                  <a:srgbClr val="232323"/>
                </a:solidFill>
                <a:latin typeface="Calibri"/>
              </a:rPr>
              <a:t>the anti-fraud rule lives in the schema. A second redemption of the same voucher cannot be inserted, whatever the application code does before the insert.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Technical Design: the Redemption Protocol</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8</a:t>
            </a:r>
            <a:endParaRPr dirty="0"/>
          </a:p>
        </p:txBody>
      </p:sp>
      <p:sp>
        <p:nvSpPr>
          <p:cNvPr id="6" name="Rounded Rectangle 5"/>
          <p:cNvSpPr/>
          <p:nvPr/>
        </p:nvSpPr>
        <p:spPr>
          <a:xfrm>
            <a:off x="822960" y="1280160"/>
            <a:ext cx="2468880" cy="21945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1417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8" name="TextBox 7"/>
          <p:cNvSpPr txBox="1"/>
          <p:nvPr/>
        </p:nvSpPr>
        <p:spPr>
          <a:xfrm>
            <a:off x="1600200" y="1444752"/>
            <a:ext cx="1554480" cy="457200"/>
          </a:xfrm>
          <a:prstGeom prst="rect">
            <a:avLst/>
          </a:prstGeom>
          <a:noFill/>
        </p:spPr>
        <p:txBody>
          <a:bodyPr wrap="square" lIns="45720" rIns="45720" tIns="27432" bIns="27432" anchor="t">
            <a:spAutoFit/>
          </a:bodyPr>
          <a:lstStyle/>
          <a:p>
            <a:pPr algn="l"/>
            <a:r>
              <a:rPr sz="1900" b="1" i="0">
                <a:solidFill>
                  <a:srgbClr val="192D4B"/>
                </a:solidFill>
                <a:latin typeface="Calibri"/>
              </a:rPr>
              <a:t>Scan</a:t>
            </a:r>
          </a:p>
        </p:txBody>
      </p:sp>
      <p:sp>
        <p:nvSpPr>
          <p:cNvPr id="9" name="TextBox 8"/>
          <p:cNvSpPr txBox="1"/>
          <p:nvPr/>
        </p:nvSpPr>
        <p:spPr>
          <a:xfrm>
            <a:off x="1005840" y="2057400"/>
            <a:ext cx="2148840" cy="1371600"/>
          </a:xfrm>
          <a:prstGeom prst="rect">
            <a:avLst/>
          </a:prstGeom>
          <a:noFill/>
        </p:spPr>
        <p:txBody>
          <a:bodyPr wrap="square" lIns="45720" rIns="45720" tIns="27432" bIns="27432" anchor="t">
            <a:spAutoFit/>
          </a:bodyPr>
          <a:lstStyle/>
          <a:p>
            <a:pPr algn="l"/>
            <a:r>
              <a:rPr sz="1400" b="0" i="0">
                <a:solidFill>
                  <a:srgbClr val="232323"/>
                </a:solidFill>
                <a:latin typeface="Calibri"/>
              </a:rPr>
              <a:t>scanner submits the opaque QR token and its device id</a:t>
            </a:r>
          </a:p>
        </p:txBody>
      </p:sp>
      <p:sp>
        <p:nvSpPr>
          <p:cNvPr id="10" name="Rounded Rectangle 9"/>
          <p:cNvSpPr/>
          <p:nvPr/>
        </p:nvSpPr>
        <p:spPr>
          <a:xfrm>
            <a:off x="3520440" y="1280160"/>
            <a:ext cx="2468880" cy="21945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03320" y="1417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2" name="TextBox 11"/>
          <p:cNvSpPr txBox="1"/>
          <p:nvPr/>
        </p:nvSpPr>
        <p:spPr>
          <a:xfrm>
            <a:off x="4297680" y="1444752"/>
            <a:ext cx="1554480" cy="457200"/>
          </a:xfrm>
          <a:prstGeom prst="rect">
            <a:avLst/>
          </a:prstGeom>
          <a:noFill/>
        </p:spPr>
        <p:txBody>
          <a:bodyPr wrap="square" lIns="45720" rIns="45720" tIns="27432" bIns="27432" anchor="t">
            <a:spAutoFit/>
          </a:bodyPr>
          <a:lstStyle/>
          <a:p>
            <a:pPr algn="l"/>
            <a:r>
              <a:rPr sz="1900" b="1" i="0">
                <a:solidFill>
                  <a:srgbClr val="192D4B"/>
                </a:solidFill>
                <a:latin typeface="Calibri"/>
              </a:rPr>
              <a:t>Lock</a:t>
            </a:r>
          </a:p>
        </p:txBody>
      </p:sp>
      <p:sp>
        <p:nvSpPr>
          <p:cNvPr id="13" name="TextBox 12"/>
          <p:cNvSpPr txBox="1"/>
          <p:nvPr/>
        </p:nvSpPr>
        <p:spPr>
          <a:xfrm>
            <a:off x="3703320" y="2057400"/>
            <a:ext cx="2148840" cy="1371600"/>
          </a:xfrm>
          <a:prstGeom prst="rect">
            <a:avLst/>
          </a:prstGeom>
          <a:noFill/>
        </p:spPr>
        <p:txBody>
          <a:bodyPr wrap="square" lIns="45720" rIns="45720" tIns="27432" bIns="27432" anchor="t">
            <a:spAutoFit/>
          </a:bodyPr>
          <a:lstStyle/>
          <a:p>
            <a:pPr algn="l"/>
            <a:r>
              <a:rPr sz="1400" b="0" i="0">
                <a:solidFill>
                  <a:srgbClr val="232323"/>
                </a:solidFill>
                <a:latin typeface="Calibri"/>
              </a:rPr>
              <a:t>inside a transaction, the voucher row is locked (lockForUpdate)</a:t>
            </a:r>
          </a:p>
        </p:txBody>
      </p:sp>
      <p:sp>
        <p:nvSpPr>
          <p:cNvPr id="14" name="Rounded Rectangle 13"/>
          <p:cNvSpPr/>
          <p:nvPr/>
        </p:nvSpPr>
        <p:spPr>
          <a:xfrm>
            <a:off x="6217920" y="1280160"/>
            <a:ext cx="2468880" cy="21945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0" y="1417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6" name="TextBox 15"/>
          <p:cNvSpPr txBox="1"/>
          <p:nvPr/>
        </p:nvSpPr>
        <p:spPr>
          <a:xfrm>
            <a:off x="6995160" y="1444752"/>
            <a:ext cx="1554480" cy="457200"/>
          </a:xfrm>
          <a:prstGeom prst="rect">
            <a:avLst/>
          </a:prstGeom>
          <a:noFill/>
        </p:spPr>
        <p:txBody>
          <a:bodyPr wrap="square" lIns="45720" rIns="45720" tIns="27432" bIns="27432" anchor="t">
            <a:spAutoFit/>
          </a:bodyPr>
          <a:lstStyle/>
          <a:p>
            <a:pPr algn="l"/>
            <a:r>
              <a:rPr sz="1900" b="1" i="0">
                <a:solidFill>
                  <a:srgbClr val="192D4B"/>
                </a:solidFill>
                <a:latin typeface="Calibri"/>
              </a:rPr>
              <a:t>Check</a:t>
            </a:r>
          </a:p>
        </p:txBody>
      </p:sp>
      <p:sp>
        <p:nvSpPr>
          <p:cNvPr id="17" name="TextBox 16"/>
          <p:cNvSpPr txBox="1"/>
          <p:nvPr/>
        </p:nvSpPr>
        <p:spPr>
          <a:xfrm>
            <a:off x="6400800" y="2057400"/>
            <a:ext cx="2148840" cy="1371600"/>
          </a:xfrm>
          <a:prstGeom prst="rect">
            <a:avLst/>
          </a:prstGeom>
          <a:noFill/>
        </p:spPr>
        <p:txBody>
          <a:bodyPr wrap="square" lIns="45720" rIns="45720" tIns="27432" bIns="27432" anchor="t">
            <a:spAutoFit/>
          </a:bodyPr>
          <a:lstStyle/>
          <a:p>
            <a:pPr algn="l"/>
            <a:r>
              <a:rPr sz="1400" b="0" i="0">
                <a:solidFill>
                  <a:srgbClr val="232323"/>
                </a:solidFill>
                <a:latin typeface="Calibri"/>
              </a:rPr>
              <a:t>404 unknown token · 409 already redeemed · 422 window closed</a:t>
            </a:r>
          </a:p>
        </p:txBody>
      </p:sp>
      <p:sp>
        <p:nvSpPr>
          <p:cNvPr id="18" name="Rounded Rectangle 17"/>
          <p:cNvSpPr/>
          <p:nvPr/>
        </p:nvSpPr>
        <p:spPr>
          <a:xfrm>
            <a:off x="8915400" y="1280160"/>
            <a:ext cx="2468880" cy="21945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98280" y="1417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20" name="TextBox 19"/>
          <p:cNvSpPr txBox="1"/>
          <p:nvPr/>
        </p:nvSpPr>
        <p:spPr>
          <a:xfrm>
            <a:off x="9692640" y="1444752"/>
            <a:ext cx="1554480" cy="457200"/>
          </a:xfrm>
          <a:prstGeom prst="rect">
            <a:avLst/>
          </a:prstGeom>
          <a:noFill/>
        </p:spPr>
        <p:txBody>
          <a:bodyPr wrap="square" lIns="45720" rIns="45720" tIns="27432" bIns="27432" anchor="t">
            <a:spAutoFit/>
          </a:bodyPr>
          <a:lstStyle/>
          <a:p>
            <a:pPr algn="l"/>
            <a:r>
              <a:rPr sz="1900" b="1" i="0">
                <a:solidFill>
                  <a:srgbClr val="192D4B"/>
                </a:solidFill>
                <a:latin typeface="Calibri"/>
              </a:rPr>
              <a:t>Record</a:t>
            </a:r>
          </a:p>
        </p:txBody>
      </p:sp>
      <p:sp>
        <p:nvSpPr>
          <p:cNvPr id="21" name="TextBox 20"/>
          <p:cNvSpPr txBox="1"/>
          <p:nvPr/>
        </p:nvSpPr>
        <p:spPr>
          <a:xfrm>
            <a:off x="9098280" y="2057400"/>
            <a:ext cx="2148840" cy="1371600"/>
          </a:xfrm>
          <a:prstGeom prst="rect">
            <a:avLst/>
          </a:prstGeom>
          <a:noFill/>
        </p:spPr>
        <p:txBody>
          <a:bodyPr wrap="square" lIns="45720" rIns="45720" tIns="27432" bIns="27432" anchor="t">
            <a:spAutoFit/>
          </a:bodyPr>
          <a:lstStyle/>
          <a:p>
            <a:pPr algn="l"/>
            <a:r>
              <a:rPr sz="1400" b="0" i="0">
                <a:solidFill>
                  <a:srgbClr val="232323"/>
                </a:solidFill>
                <a:latin typeface="Calibri"/>
              </a:rPr>
              <a:t>mark redeemed and insert the redemption row</a:t>
            </a:r>
          </a:p>
        </p:txBody>
      </p:sp>
      <p:sp>
        <p:nvSpPr>
          <p:cNvPr id="22" name="Rounded Rectangle 21"/>
          <p:cNvSpPr/>
          <p:nvPr/>
        </p:nvSpPr>
        <p:spPr>
          <a:xfrm>
            <a:off x="822960" y="3749039"/>
            <a:ext cx="52120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886200"/>
            <a:ext cx="4846320" cy="411480"/>
          </a:xfrm>
          <a:prstGeom prst="rect">
            <a:avLst/>
          </a:prstGeom>
          <a:noFill/>
        </p:spPr>
        <p:txBody>
          <a:bodyPr wrap="square" lIns="45720" rIns="45720" tIns="27432" bIns="27432" anchor="t">
            <a:spAutoFit/>
          </a:bodyPr>
          <a:lstStyle/>
          <a:p>
            <a:pPr algn="l"/>
            <a:r>
              <a:rPr sz="1700" b="1" i="0">
                <a:solidFill>
                  <a:srgbClr val="192D4B"/>
                </a:solidFill>
                <a:latin typeface="Calibri"/>
              </a:rPr>
              <a:t>Two independent safeguards</a:t>
            </a:r>
          </a:p>
        </p:txBody>
      </p:sp>
      <p:sp>
        <p:nvSpPr>
          <p:cNvPr id="24" name="TextBox 23"/>
          <p:cNvSpPr txBox="1"/>
          <p:nvPr/>
        </p:nvSpPr>
        <p:spPr>
          <a:xfrm>
            <a:off x="1005840" y="4315968"/>
            <a:ext cx="4846320" cy="1143000"/>
          </a:xfrm>
          <a:prstGeom prst="rect">
            <a:avLst/>
          </a:prstGeom>
          <a:noFill/>
        </p:spPr>
        <p:txBody>
          <a:bodyPr wrap="square" lIns="45720" rIns="45720" tIns="27432" bIns="27432" anchor="t">
            <a:spAutoFit/>
          </a:bodyPr>
          <a:lstStyle/>
          <a:p>
            <a:pPr algn="l"/>
            <a:r>
              <a:rPr sz="1400" b="0" i="0">
                <a:solidFill>
                  <a:srgbClr val="232323"/>
                </a:solidFill>
                <a:latin typeface="Calibri"/>
              </a:rPr>
              <a:t>The row lock makes a second scan wait for the first to commit. The unique constraint refuses a second redemption row even if the lock were missing; that error is returned as the same 409.</a:t>
            </a:r>
          </a:p>
        </p:txBody>
      </p:sp>
      <p:sp>
        <p:nvSpPr>
          <p:cNvPr id="25" name="Rounded Rectangle 24"/>
          <p:cNvSpPr/>
          <p:nvPr/>
        </p:nvSpPr>
        <p:spPr>
          <a:xfrm>
            <a:off x="6263640" y="3749039"/>
            <a:ext cx="516636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886200"/>
            <a:ext cx="4800600" cy="411480"/>
          </a:xfrm>
          <a:prstGeom prst="rect">
            <a:avLst/>
          </a:prstGeom>
          <a:noFill/>
        </p:spPr>
        <p:txBody>
          <a:bodyPr wrap="square" lIns="45720" rIns="45720" tIns="27432" bIns="27432" anchor="t">
            <a:spAutoFit/>
          </a:bodyPr>
          <a:lstStyle/>
          <a:p>
            <a:pPr algn="l"/>
            <a:r>
              <a:rPr sz="1700" b="1" i="0">
                <a:solidFill>
                  <a:srgbClr val="192D4B"/>
                </a:solidFill>
                <a:latin typeface="Calibri"/>
              </a:rPr>
              <a:t>Why the database, not the app</a:t>
            </a:r>
          </a:p>
        </p:txBody>
      </p:sp>
      <p:sp>
        <p:nvSpPr>
          <p:cNvPr id="27" name="TextBox 26"/>
          <p:cNvSpPr txBox="1"/>
          <p:nvPr/>
        </p:nvSpPr>
        <p:spPr>
          <a:xfrm>
            <a:off x="6446520" y="4315968"/>
            <a:ext cx="4800600" cy="1143000"/>
          </a:xfrm>
          <a:prstGeom prst="rect">
            <a:avLst/>
          </a:prstGeom>
          <a:noFill/>
        </p:spPr>
        <p:txBody>
          <a:bodyPr wrap="square" lIns="45720" rIns="45720" tIns="27432" bIns="27432" anchor="t">
            <a:spAutoFit/>
          </a:bodyPr>
          <a:lstStyle/>
          <a:p>
            <a:pPr algn="l"/>
            <a:r>
              <a:rPr sz="1400" b="0" i="0">
                <a:solidFill>
                  <a:srgbClr val="232323"/>
                </a:solidFill>
                <a:latin typeface="Calibri"/>
              </a:rPr>
              <a:t>Check-then-insert in application code lets two scans both pass the check before either writes. The experiment on slide 14 shows that race happening.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Development Environment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9</a:t>
            </a:r>
            <a:endParaRPr dirty="0"/>
          </a:p>
        </p:txBody>
      </p:sp>
      <p:graphicFrame>
        <p:nvGraphicFramePr>
          <p:cNvPr id="6" name="Table 5"/>
          <p:cNvGraphicFramePr>
            <a:graphicFrameLocks noGrp="1"/>
          </p:cNvGraphicFramePr>
          <p:nvPr/>
        </p:nvGraphicFramePr>
        <p:xfrm>
          <a:off x="822960" y="1280160"/>
          <a:ext cx="10607040" cy="3968496"/>
        </p:xfrm>
        <a:graphic>
          <a:graphicData uri="http://schemas.openxmlformats.org/drawingml/2006/table">
            <a:tbl>
              <a:tblPr firstRow="1" bandRow="1">
                <a:tableStyleId>{5940675A-B579-460E-94D1-54222C63F5DA}</a:tableStyleId>
              </a:tblPr>
              <a:tblGrid>
                <a:gridCol w="3291840"/>
                <a:gridCol w="7315200"/>
              </a:tblGrid>
              <a:tr h="566928">
                <a:tc>
                  <a:txBody>
                    <a:bodyPr wrap="square"/>
                    <a:lstStyle/>
                    <a:p>
                      <a:r>
                        <a:rPr sz="1600" b="1">
                          <a:solidFill>
                            <a:srgbClr val="FFFFFF"/>
                          </a:solidFill>
                          <a:latin typeface="Calibri"/>
                        </a:rPr>
                        <a:t>Item</a:t>
                      </a:r>
                    </a:p>
                  </a:txBody>
                  <a:tcPr marL="73152" marR="73152" marT="36576" marB="36576" anchor="ctr">
                    <a:solidFill>
                      <a:srgbClr val="192D4B"/>
                    </a:solidFill>
                  </a:tcPr>
                </a:tc>
                <a:tc>
                  <a:txBody>
                    <a:bodyPr wrap="square"/>
                    <a:lstStyle/>
                    <a:p>
                      <a:r>
                        <a:rPr sz="1600" b="1">
                          <a:solidFill>
                            <a:srgbClr val="FFFFFF"/>
                          </a:solidFill>
                          <a:latin typeface="Calibri"/>
                        </a:rPr>
                        <a:t>Used</a:t>
                      </a:r>
                    </a:p>
                  </a:txBody>
                  <a:tcPr marL="73152" marR="73152" marT="36576" marB="36576" anchor="ctr">
                    <a:solidFill>
                      <a:srgbClr val="192D4B"/>
                    </a:solidFill>
                  </a:tcPr>
                </a:tc>
              </a:tr>
              <a:tr h="566928">
                <a:tc>
                  <a:txBody>
                    <a:bodyPr wrap="square"/>
                    <a:lstStyle/>
                    <a:p>
                      <a:r>
                        <a:rPr sz="1600">
                          <a:solidFill>
                            <a:srgbClr val="232323"/>
                          </a:solidFill>
                          <a:latin typeface="Calibri"/>
                        </a:rPr>
                        <a:t>Operating system</a:t>
                      </a:r>
                    </a:p>
                  </a:txBody>
                  <a:tcPr marL="73152" marR="73152" marT="36576" marB="36576" anchor="ctr">
                    <a:solidFill>
                      <a:srgbClr val="FFFFFF"/>
                    </a:solidFill>
                  </a:tcPr>
                </a:tc>
                <a:tc>
                  <a:txBody>
                    <a:bodyPr wrap="square"/>
                    <a:lstStyle/>
                    <a:p>
                      <a:r>
                        <a:rPr sz="1600">
                          <a:solidFill>
                            <a:srgbClr val="232323"/>
                          </a:solidFill>
                          <a:latin typeface="Calibri"/>
                        </a:rPr>
                        <a:t>Windows 11; Android emulator (API 36)</a:t>
                      </a:r>
                    </a:p>
                  </a:txBody>
                  <a:tcPr marL="73152" marR="73152" marT="36576" marB="36576" anchor="ctr">
                    <a:solidFill>
                      <a:srgbClr val="FFFFFF"/>
                    </a:solidFill>
                  </a:tcPr>
                </a:tc>
              </a:tr>
              <a:tr h="566928">
                <a:tc>
                  <a:txBody>
                    <a:bodyPr wrap="square"/>
                    <a:lstStyle/>
                    <a:p>
                      <a:r>
                        <a:rPr sz="1600">
                          <a:solidFill>
                            <a:srgbClr val="232323"/>
                          </a:solidFill>
                          <a:latin typeface="Calibri"/>
                        </a:rPr>
                        <a:t>Languages</a:t>
                      </a:r>
                    </a:p>
                  </a:txBody>
                  <a:tcPr marL="73152" marR="73152" marT="36576" marB="36576" anchor="ctr">
                    <a:solidFill>
                      <a:srgbClr val="EEF2F7"/>
                    </a:solidFill>
                  </a:tcPr>
                </a:tc>
                <a:tc>
                  <a:txBody>
                    <a:bodyPr wrap="square"/>
                    <a:lstStyle/>
                    <a:p>
                      <a:r>
                        <a:rPr sz="1600">
                          <a:solidFill>
                            <a:srgbClr val="232323"/>
                          </a:solidFill>
                          <a:latin typeface="Calibri"/>
                        </a:rPr>
                        <a:t>Dart, PHP 8.5, Python 3.14 (evaluation scripts)</a:t>
                      </a:r>
                    </a:p>
                  </a:txBody>
                  <a:tcPr marL="73152" marR="73152" marT="36576" marB="36576" anchor="ctr">
                    <a:solidFill>
                      <a:srgbClr val="EEF2F7"/>
                    </a:solidFill>
                  </a:tcPr>
                </a:tc>
              </a:tr>
              <a:tr h="566928">
                <a:tc>
                  <a:txBody>
                    <a:bodyPr wrap="square"/>
                    <a:lstStyle/>
                    <a:p>
                      <a:r>
                        <a:rPr sz="1600">
                          <a:solidFill>
                            <a:srgbClr val="232323"/>
                          </a:solidFill>
                          <a:latin typeface="Calibri"/>
                        </a:rPr>
                        <a:t>Frameworks</a:t>
                      </a:r>
                    </a:p>
                  </a:txBody>
                  <a:tcPr marL="73152" marR="73152" marT="36576" marB="36576" anchor="ctr">
                    <a:solidFill>
                      <a:srgbClr val="FFFFFF"/>
                    </a:solidFill>
                  </a:tcPr>
                </a:tc>
                <a:tc>
                  <a:txBody>
                    <a:bodyPr wrap="square"/>
                    <a:lstStyle/>
                    <a:p>
                      <a:r>
                        <a:rPr sz="1600">
                          <a:solidFill>
                            <a:srgbClr val="232323"/>
                          </a:solidFill>
                          <a:latin typeface="Calibri"/>
                        </a:rPr>
                        <a:t>Flutter 3.44 with Riverpod, fl_chart, qr_flutter, mobile_scanner; Laravel 13 with Sanctum</a:t>
                      </a:r>
                    </a:p>
                  </a:txBody>
                  <a:tcPr marL="73152" marR="73152" marT="36576" marB="36576" anchor="ctr">
                    <a:solidFill>
                      <a:srgbClr val="FFFFFF"/>
                    </a:solidFill>
                  </a:tcPr>
                </a:tc>
              </a:tr>
              <a:tr h="566928">
                <a:tc>
                  <a:txBody>
                    <a:bodyPr wrap="square"/>
                    <a:lstStyle/>
                    <a:p>
                      <a:r>
                        <a:rPr sz="1600">
                          <a:solidFill>
                            <a:srgbClr val="232323"/>
                          </a:solidFill>
                          <a:latin typeface="Calibri"/>
                        </a:rPr>
                        <a:t>Database</a:t>
                      </a:r>
                    </a:p>
                  </a:txBody>
                  <a:tcPr marL="73152" marR="73152" marT="36576" marB="36576" anchor="ctr">
                    <a:solidFill>
                      <a:srgbClr val="EEF2F7"/>
                    </a:solidFill>
                  </a:tcPr>
                </a:tc>
                <a:tc>
                  <a:txBody>
                    <a:bodyPr wrap="square"/>
                    <a:lstStyle/>
                    <a:p>
                      <a:r>
                        <a:rPr sz="1600">
                          <a:solidFill>
                            <a:srgbClr val="232323"/>
                          </a:solidFill>
                          <a:latin typeface="Calibri"/>
                        </a:rPr>
                        <a:t>PostgreSQL 18.2</a:t>
                      </a:r>
                    </a:p>
                  </a:txBody>
                  <a:tcPr marL="73152" marR="73152" marT="36576" marB="36576" anchor="ctr">
                    <a:solidFill>
                      <a:srgbClr val="EEF2F7"/>
                    </a:solidFill>
                  </a:tcPr>
                </a:tc>
              </a:tr>
              <a:tr h="566928">
                <a:tc>
                  <a:txBody>
                    <a:bodyPr wrap="square"/>
                    <a:lstStyle/>
                    <a:p>
                      <a:r>
                        <a:rPr sz="1600">
                          <a:solidFill>
                            <a:srgbClr val="232323"/>
                          </a:solidFill>
                          <a:latin typeface="Calibri"/>
                        </a:rPr>
                        <a:t>Tools</a:t>
                      </a:r>
                    </a:p>
                  </a:txBody>
                  <a:tcPr marL="73152" marR="73152" marT="36576" marB="36576" anchor="ctr">
                    <a:solidFill>
                      <a:srgbClr val="FFFFFF"/>
                    </a:solidFill>
                  </a:tcPr>
                </a:tc>
                <a:tc>
                  <a:txBody>
                    <a:bodyPr wrap="square"/>
                    <a:lstStyle/>
                    <a:p>
                      <a:r>
                        <a:rPr sz="1600">
                          <a:solidFill>
                            <a:srgbClr val="232323"/>
                          </a:solidFill>
                          <a:latin typeface="Calibri"/>
                        </a:rPr>
                        <a:t>VS Code, Android SDK, PHPUnit, PHPStan level 7, Pint, flutter analyze</a:t>
                      </a:r>
                    </a:p>
                  </a:txBody>
                  <a:tcPr marL="73152" marR="73152" marT="36576" marB="36576" anchor="ctr">
                    <a:solidFill>
                      <a:srgbClr val="FFFFFF"/>
                    </a:solidFill>
                  </a:tcPr>
                </a:tc>
              </a:tr>
              <a:tr h="566928">
                <a:tc>
                  <a:txBody>
                    <a:bodyPr wrap="square"/>
                    <a:lstStyle/>
                    <a:p>
                      <a:r>
                        <a:rPr sz="1600">
                          <a:solidFill>
                            <a:srgbClr val="232323"/>
                          </a:solidFill>
                          <a:latin typeface="Calibri"/>
                        </a:rPr>
                        <a:t>Version control / services</a:t>
                      </a:r>
                    </a:p>
                  </a:txBody>
                  <a:tcPr marL="73152" marR="73152" marT="36576" marB="36576" anchor="ctr">
                    <a:solidFill>
                      <a:srgbClr val="EEF2F7"/>
                    </a:solidFill>
                  </a:tcPr>
                </a:tc>
                <a:tc>
                  <a:txBody>
                    <a:bodyPr wrap="square"/>
                    <a:lstStyle/>
                    <a:p>
                      <a:r>
                        <a:rPr sz="1600">
                          <a:solidFill>
                            <a:srgbClr val="232323"/>
                          </a:solidFill>
                          <a:latin typeface="Calibri"/>
                        </a:rPr>
                        <a:t>Git and GitHub; Firebase Cloud Messaging v1</a:t>
                      </a:r>
                    </a:p>
                  </a:txBody>
                  <a:tcPr marL="73152" marR="73152" marT="36576" marB="36576" anchor="ctr">
                    <a:solidFill>
                      <a:srgbClr val="EEF2F7"/>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System Components / Modules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10</a:t>
            </a:r>
            <a:endParaRPr dirty="0"/>
          </a:p>
        </p:txBody>
      </p:sp>
      <p:sp>
        <p:nvSpPr>
          <p:cNvPr id="6" name="Rounded Rectangle 5"/>
          <p:cNvSpPr/>
          <p:nvPr/>
        </p:nvSpPr>
        <p:spPr>
          <a:xfrm>
            <a:off x="822960" y="1234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371600"/>
            <a:ext cx="3017520" cy="411480"/>
          </a:xfrm>
          <a:prstGeom prst="rect">
            <a:avLst/>
          </a:prstGeom>
          <a:noFill/>
        </p:spPr>
        <p:txBody>
          <a:bodyPr wrap="square" lIns="45720" rIns="45720" tIns="27432" bIns="27432" anchor="t">
            <a:spAutoFit/>
          </a:bodyPr>
          <a:lstStyle/>
          <a:p>
            <a:pPr algn="l"/>
            <a:r>
              <a:rPr sz="1700" b="1" i="0">
                <a:solidFill>
                  <a:srgbClr val="192D4B"/>
                </a:solidFill>
                <a:latin typeface="Calibri"/>
              </a:rPr>
              <a:t>Analytics dashboard</a:t>
            </a:r>
          </a:p>
        </p:txBody>
      </p:sp>
      <p:sp>
        <p:nvSpPr>
          <p:cNvPr id="8" name="TextBox 7"/>
          <p:cNvSpPr txBox="1"/>
          <p:nvPr/>
        </p:nvSpPr>
        <p:spPr>
          <a:xfrm>
            <a:off x="1005840" y="1801368"/>
            <a:ext cx="3017520" cy="1188719"/>
          </a:xfrm>
          <a:prstGeom prst="rect">
            <a:avLst/>
          </a:prstGeom>
          <a:noFill/>
        </p:spPr>
        <p:txBody>
          <a:bodyPr wrap="square" lIns="45720" rIns="45720" tIns="27432" bIns="27432" anchor="t">
            <a:spAutoFit/>
          </a:bodyPr>
          <a:lstStyle/>
          <a:p>
            <a:pPr algn="l"/>
            <a:r>
              <a:rPr sz="1600" b="0" i="0">
                <a:solidFill>
                  <a:srgbClr val="232323"/>
                </a:solidFill>
                <a:latin typeface="Calibri"/>
              </a:rPr>
              <a:t>check-ins, meal redemption rate, session occupancy; refreshes every 30 s</a:t>
            </a:r>
          </a:p>
        </p:txBody>
      </p:sp>
      <p:sp>
        <p:nvSpPr>
          <p:cNvPr id="9" name="Rounded Rectangle 8"/>
          <p:cNvSpPr/>
          <p:nvPr/>
        </p:nvSpPr>
        <p:spPr>
          <a:xfrm>
            <a:off x="4434840" y="1234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371600"/>
            <a:ext cx="3017520" cy="411480"/>
          </a:xfrm>
          <a:prstGeom prst="rect">
            <a:avLst/>
          </a:prstGeom>
          <a:noFill/>
        </p:spPr>
        <p:txBody>
          <a:bodyPr wrap="square" lIns="45720" rIns="45720" tIns="27432" bIns="27432" anchor="t">
            <a:spAutoFit/>
          </a:bodyPr>
          <a:lstStyle/>
          <a:p>
            <a:pPr algn="l"/>
            <a:r>
              <a:rPr sz="1700" b="1" i="0">
                <a:solidFill>
                  <a:srgbClr val="192D4B"/>
                </a:solidFill>
                <a:latin typeface="Calibri"/>
              </a:rPr>
              <a:t>Meal vouchers</a:t>
            </a:r>
          </a:p>
        </p:txBody>
      </p:sp>
      <p:sp>
        <p:nvSpPr>
          <p:cNvPr id="11" name="TextBox 10"/>
          <p:cNvSpPr txBox="1"/>
          <p:nvPr/>
        </p:nvSpPr>
        <p:spPr>
          <a:xfrm>
            <a:off x="4617720" y="1801368"/>
            <a:ext cx="3017520" cy="1188719"/>
          </a:xfrm>
          <a:prstGeom prst="rect">
            <a:avLst/>
          </a:prstGeom>
          <a:noFill/>
        </p:spPr>
        <p:txBody>
          <a:bodyPr wrap="square" lIns="45720" rIns="45720" tIns="27432" bIns="27432" anchor="t">
            <a:spAutoFit/>
          </a:bodyPr>
          <a:lstStyle/>
          <a:p>
            <a:pPr algn="l"/>
            <a:r>
              <a:rPr sz="1600" b="0" i="0">
                <a:solidFill>
                  <a:srgbClr val="232323"/>
                </a:solidFill>
                <a:latin typeface="Calibri"/>
              </a:rPr>
              <a:t>one voucher per attendee per category; scanner with camera or manual entry; My meals screen for attendees</a:t>
            </a:r>
          </a:p>
        </p:txBody>
      </p:sp>
      <p:sp>
        <p:nvSpPr>
          <p:cNvPr id="12" name="Rounded Rectangle 11"/>
          <p:cNvSpPr/>
          <p:nvPr/>
        </p:nvSpPr>
        <p:spPr>
          <a:xfrm>
            <a:off x="8046720" y="123444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371600"/>
            <a:ext cx="3017520" cy="411480"/>
          </a:xfrm>
          <a:prstGeom prst="rect">
            <a:avLst/>
          </a:prstGeom>
          <a:noFill/>
        </p:spPr>
        <p:txBody>
          <a:bodyPr wrap="square" lIns="45720" rIns="45720" tIns="27432" bIns="27432" anchor="t">
            <a:spAutoFit/>
          </a:bodyPr>
          <a:lstStyle/>
          <a:p>
            <a:pPr algn="l"/>
            <a:r>
              <a:rPr sz="1700" b="1" i="0">
                <a:solidFill>
                  <a:srgbClr val="192D4B"/>
                </a:solidFill>
                <a:latin typeface="Calibri"/>
              </a:rPr>
              <a:t>Sessions</a:t>
            </a:r>
          </a:p>
        </p:txBody>
      </p:sp>
      <p:sp>
        <p:nvSpPr>
          <p:cNvPr id="14" name="TextBox 13"/>
          <p:cNvSpPr txBox="1"/>
          <p:nvPr/>
        </p:nvSpPr>
        <p:spPr>
          <a:xfrm>
            <a:off x="8229600" y="1801368"/>
            <a:ext cx="3017520" cy="1188719"/>
          </a:xfrm>
          <a:prstGeom prst="rect">
            <a:avLst/>
          </a:prstGeom>
          <a:noFill/>
        </p:spPr>
        <p:txBody>
          <a:bodyPr wrap="square" lIns="45720" rIns="45720" tIns="27432" bIns="27432" anchor="t">
            <a:spAutoFit/>
          </a:bodyPr>
          <a:lstStyle/>
          <a:p>
            <a:pPr algn="l"/>
            <a:r>
              <a:rPr sz="1600" b="0" i="0">
                <a:solidFill>
                  <a:srgbClr val="232323"/>
                </a:solidFill>
                <a:latin typeface="Calibri"/>
              </a:rPr>
              <a:t>door scans, capacity states (available, warning at 90%, over capacity) and organiser alerts</a:t>
            </a:r>
          </a:p>
        </p:txBody>
      </p:sp>
      <p:sp>
        <p:nvSpPr>
          <p:cNvPr id="15" name="Rounded Rectangle 14"/>
          <p:cNvSpPr/>
          <p:nvPr/>
        </p:nvSpPr>
        <p:spPr>
          <a:xfrm>
            <a:off x="822960" y="347472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11880"/>
            <a:ext cx="3017520" cy="411480"/>
          </a:xfrm>
          <a:prstGeom prst="rect">
            <a:avLst/>
          </a:prstGeom>
          <a:noFill/>
        </p:spPr>
        <p:txBody>
          <a:bodyPr wrap="square" lIns="45720" rIns="45720" tIns="27432" bIns="27432" anchor="t">
            <a:spAutoFit/>
          </a:bodyPr>
          <a:lstStyle/>
          <a:p>
            <a:pPr algn="l"/>
            <a:r>
              <a:rPr sz="1700" b="1" i="0">
                <a:solidFill>
                  <a:srgbClr val="192D4B"/>
                </a:solidFill>
                <a:latin typeface="Calibri"/>
              </a:rPr>
              <a:t>Notifications</a:t>
            </a:r>
          </a:p>
        </p:txBody>
      </p:sp>
      <p:sp>
        <p:nvSpPr>
          <p:cNvPr id="17" name="TextBox 16"/>
          <p:cNvSpPr txBox="1"/>
          <p:nvPr/>
        </p:nvSpPr>
        <p:spPr>
          <a:xfrm>
            <a:off x="1005840" y="4041648"/>
            <a:ext cx="3017520" cy="1188719"/>
          </a:xfrm>
          <a:prstGeom prst="rect">
            <a:avLst/>
          </a:prstGeom>
          <a:noFill/>
        </p:spPr>
        <p:txBody>
          <a:bodyPr wrap="square" lIns="45720" rIns="45720" tIns="27432" bIns="27432" anchor="t">
            <a:spAutoFit/>
          </a:bodyPr>
          <a:lstStyle/>
          <a:p>
            <a:pPr algn="l"/>
            <a:r>
              <a:rPr sz="1600" b="0" i="0">
                <a:solidFill>
                  <a:srgbClr val="232323"/>
                </a:solidFill>
                <a:latin typeface="Calibri"/>
              </a:rPr>
              <a:t>organiser broadcasts, FCM push, per-recipient records, in-app inbox</a:t>
            </a:r>
          </a:p>
        </p:txBody>
      </p:sp>
      <p:sp>
        <p:nvSpPr>
          <p:cNvPr id="18" name="Rounded Rectangle 17"/>
          <p:cNvSpPr/>
          <p:nvPr/>
        </p:nvSpPr>
        <p:spPr>
          <a:xfrm>
            <a:off x="4434840" y="347472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20" y="3611880"/>
            <a:ext cx="3017520" cy="411480"/>
          </a:xfrm>
          <a:prstGeom prst="rect">
            <a:avLst/>
          </a:prstGeom>
          <a:noFill/>
        </p:spPr>
        <p:txBody>
          <a:bodyPr wrap="square" lIns="45720" rIns="45720" tIns="27432" bIns="27432" anchor="t">
            <a:spAutoFit/>
          </a:bodyPr>
          <a:lstStyle/>
          <a:p>
            <a:pPr algn="l"/>
            <a:r>
              <a:rPr sz="1700" b="1" i="0">
                <a:solidFill>
                  <a:srgbClr val="192D4B"/>
                </a:solidFill>
                <a:latin typeface="Calibri"/>
              </a:rPr>
              <a:t>Reports</a:t>
            </a:r>
          </a:p>
        </p:txBody>
      </p:sp>
      <p:sp>
        <p:nvSpPr>
          <p:cNvPr id="20" name="TextBox 19"/>
          <p:cNvSpPr txBox="1"/>
          <p:nvPr/>
        </p:nvSpPr>
        <p:spPr>
          <a:xfrm>
            <a:off x="4617720" y="4041648"/>
            <a:ext cx="3017520" cy="1188719"/>
          </a:xfrm>
          <a:prstGeom prst="rect">
            <a:avLst/>
          </a:prstGeom>
          <a:noFill/>
        </p:spPr>
        <p:txBody>
          <a:bodyPr wrap="square" lIns="45720" rIns="45720" tIns="27432" bIns="27432" anchor="t">
            <a:spAutoFit/>
          </a:bodyPr>
          <a:lstStyle/>
          <a:p>
            <a:pPr algn="l"/>
            <a:r>
              <a:rPr sz="1600" b="0" i="0">
                <a:solidFill>
                  <a:srgbClr val="232323"/>
                </a:solidFill>
                <a:latin typeface="Calibri"/>
              </a:rPr>
              <a:t>attendance, meals, sessions and notifications as CSV, read in chunks of 1,000</a:t>
            </a:r>
          </a:p>
        </p:txBody>
      </p:sp>
      <p:sp>
        <p:nvSpPr>
          <p:cNvPr id="21" name="Rounded Rectangle 20"/>
          <p:cNvSpPr/>
          <p:nvPr/>
        </p:nvSpPr>
        <p:spPr>
          <a:xfrm>
            <a:off x="8046720" y="3474720"/>
            <a:ext cx="3383280" cy="1874519"/>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3611880"/>
            <a:ext cx="3017520" cy="411480"/>
          </a:xfrm>
          <a:prstGeom prst="rect">
            <a:avLst/>
          </a:prstGeom>
          <a:noFill/>
        </p:spPr>
        <p:txBody>
          <a:bodyPr wrap="square" lIns="45720" rIns="45720" tIns="27432" bIns="27432" anchor="t">
            <a:spAutoFit/>
          </a:bodyPr>
          <a:lstStyle/>
          <a:p>
            <a:pPr algn="l"/>
            <a:r>
              <a:rPr sz="1700" b="1" i="0">
                <a:solidFill>
                  <a:srgbClr val="192D4B"/>
                </a:solidFill>
                <a:latin typeface="Calibri"/>
              </a:rPr>
              <a:t>Offline queue</a:t>
            </a:r>
          </a:p>
        </p:txBody>
      </p:sp>
      <p:sp>
        <p:nvSpPr>
          <p:cNvPr id="23" name="TextBox 22"/>
          <p:cNvSpPr txBox="1"/>
          <p:nvPr/>
        </p:nvSpPr>
        <p:spPr>
          <a:xfrm>
            <a:off x="8229600" y="4041648"/>
            <a:ext cx="3017520" cy="1188719"/>
          </a:xfrm>
          <a:prstGeom prst="rect">
            <a:avLst/>
          </a:prstGeom>
          <a:noFill/>
        </p:spPr>
        <p:txBody>
          <a:bodyPr wrap="square" lIns="45720" rIns="45720" tIns="27432" bIns="27432" anchor="t">
            <a:spAutoFit/>
          </a:bodyPr>
          <a:lstStyle/>
          <a:p>
            <a:pPr algn="l"/>
            <a:r>
              <a:rPr sz="1600" b="0" i="0">
                <a:solidFill>
                  <a:srgbClr val="232323"/>
                </a:solidFill>
                <a:latin typeface="Calibri"/>
              </a:rPr>
              <a:t>scans saved on the device and replayed in order when back online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Key Implementation Details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11</a:t>
            </a:r>
            <a:endParaRPr dirty="0"/>
          </a:p>
        </p:txBody>
      </p:sp>
      <p:sp>
        <p:nvSpPr>
          <p:cNvPr id="6" name="Rounded Rectangle 5"/>
          <p:cNvSpPr/>
          <p:nvPr/>
        </p:nvSpPr>
        <p:spPr>
          <a:xfrm>
            <a:off x="822960" y="1188720"/>
            <a:ext cx="1060704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280160"/>
            <a:ext cx="2377440" cy="640080"/>
          </a:xfrm>
          <a:prstGeom prst="rect">
            <a:avLst/>
          </a:prstGeom>
          <a:noFill/>
        </p:spPr>
        <p:txBody>
          <a:bodyPr wrap="square" lIns="45720" rIns="45720" tIns="27432" bIns="27432" anchor="ctr">
            <a:spAutoFit/>
          </a:bodyPr>
          <a:lstStyle/>
          <a:p>
            <a:pPr algn="l"/>
            <a:r>
              <a:rPr sz="1600" b="1" i="0">
                <a:solidFill>
                  <a:srgbClr val="192D4B"/>
                </a:solidFill>
                <a:latin typeface="Calibri"/>
              </a:rPr>
              <a:t>Redemption</a:t>
            </a:r>
          </a:p>
        </p:txBody>
      </p:sp>
      <p:sp>
        <p:nvSpPr>
          <p:cNvPr id="8" name="TextBox 7"/>
          <p:cNvSpPr txBox="1"/>
          <p:nvPr/>
        </p:nvSpPr>
        <p:spPr>
          <a:xfrm>
            <a:off x="3383280" y="1280160"/>
            <a:ext cx="7955279" cy="640080"/>
          </a:xfrm>
          <a:prstGeom prst="rect">
            <a:avLst/>
          </a:prstGeom>
          <a:noFill/>
        </p:spPr>
        <p:txBody>
          <a:bodyPr wrap="square" lIns="45720" rIns="45720" tIns="27432" bIns="27432" anchor="ctr">
            <a:spAutoFit/>
          </a:bodyPr>
          <a:lstStyle/>
          <a:p>
            <a:pPr algn="l"/>
            <a:r>
              <a:rPr sz="1500" b="0" i="0">
                <a:solidFill>
                  <a:srgbClr val="232323"/>
                </a:solidFill>
                <a:latin typeface="Calibri"/>
              </a:rPr>
              <a:t>row lock plus unique constraint; constraint error caught outside the transaction and returned as 409, not 500</a:t>
            </a:r>
          </a:p>
        </p:txBody>
      </p:sp>
      <p:sp>
        <p:nvSpPr>
          <p:cNvPr id="9" name="Rounded Rectangle 8"/>
          <p:cNvSpPr/>
          <p:nvPr/>
        </p:nvSpPr>
        <p:spPr>
          <a:xfrm>
            <a:off x="822960" y="2103120"/>
            <a:ext cx="1060704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194560"/>
            <a:ext cx="2377440" cy="640080"/>
          </a:xfrm>
          <a:prstGeom prst="rect">
            <a:avLst/>
          </a:prstGeom>
          <a:noFill/>
        </p:spPr>
        <p:txBody>
          <a:bodyPr wrap="square" lIns="45720" rIns="45720" tIns="27432" bIns="27432" anchor="ctr">
            <a:spAutoFit/>
          </a:bodyPr>
          <a:lstStyle/>
          <a:p>
            <a:pPr algn="l"/>
            <a:r>
              <a:rPr sz="1600" b="1" i="0">
                <a:solidFill>
                  <a:srgbClr val="192D4B"/>
                </a:solidFill>
                <a:latin typeface="Calibri"/>
              </a:rPr>
              <a:t>Offline replay</a:t>
            </a:r>
          </a:p>
        </p:txBody>
      </p:sp>
      <p:sp>
        <p:nvSpPr>
          <p:cNvPr id="11" name="TextBox 10"/>
          <p:cNvSpPr txBox="1"/>
          <p:nvPr/>
        </p:nvSpPr>
        <p:spPr>
          <a:xfrm>
            <a:off x="3383280" y="2194560"/>
            <a:ext cx="7955279" cy="640080"/>
          </a:xfrm>
          <a:prstGeom prst="rect">
            <a:avLst/>
          </a:prstGeom>
          <a:noFill/>
        </p:spPr>
        <p:txBody>
          <a:bodyPr wrap="square" lIns="45720" rIns="45720" tIns="27432" bIns="27432" anchor="ctr">
            <a:spAutoFit/>
          </a:bodyPr>
          <a:lstStyle/>
          <a:p>
            <a:pPr algn="l"/>
            <a:r>
              <a:rPr sz="1500" b="0" i="0">
                <a:solidFill>
                  <a:srgbClr val="232323"/>
                </a:solidFill>
                <a:latin typeface="Calibri"/>
              </a:rPr>
              <a:t>only a definitive business answer (404, 409, 422) settles a queued scan; anything else keeps it and every scan after it</a:t>
            </a:r>
          </a:p>
        </p:txBody>
      </p:sp>
      <p:sp>
        <p:nvSpPr>
          <p:cNvPr id="12" name="Rounded Rectangle 11"/>
          <p:cNvSpPr/>
          <p:nvPr/>
        </p:nvSpPr>
        <p:spPr>
          <a:xfrm>
            <a:off x="822960" y="3017520"/>
            <a:ext cx="1060704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108960"/>
            <a:ext cx="2377440" cy="640080"/>
          </a:xfrm>
          <a:prstGeom prst="rect">
            <a:avLst/>
          </a:prstGeom>
          <a:noFill/>
        </p:spPr>
        <p:txBody>
          <a:bodyPr wrap="square" lIns="45720" rIns="45720" tIns="27432" bIns="27432" anchor="ctr">
            <a:spAutoFit/>
          </a:bodyPr>
          <a:lstStyle/>
          <a:p>
            <a:pPr algn="l"/>
            <a:r>
              <a:rPr sz="1600" b="1" i="0">
                <a:solidFill>
                  <a:srgbClr val="192D4B"/>
                </a:solidFill>
                <a:latin typeface="Calibri"/>
              </a:rPr>
              <a:t>Offline meal rule</a:t>
            </a:r>
          </a:p>
        </p:txBody>
      </p:sp>
      <p:sp>
        <p:nvSpPr>
          <p:cNvPr id="14" name="TextBox 13"/>
          <p:cNvSpPr txBox="1"/>
          <p:nvPr/>
        </p:nvSpPr>
        <p:spPr>
          <a:xfrm>
            <a:off x="3383280" y="3108960"/>
            <a:ext cx="7955279" cy="640080"/>
          </a:xfrm>
          <a:prstGeom prst="rect">
            <a:avLst/>
          </a:prstGeom>
          <a:noFill/>
        </p:spPr>
        <p:txBody>
          <a:bodyPr wrap="square" lIns="45720" rIns="45720" tIns="27432" bIns="27432" anchor="ctr">
            <a:spAutoFit/>
          </a:bodyPr>
          <a:lstStyle/>
          <a:p>
            <a:pPr algn="l"/>
            <a:r>
              <a:rPr sz="1500" b="0" i="0">
                <a:solidFill>
                  <a:srgbClr val="232323"/>
                </a:solidFill>
                <a:latin typeface="Calibri"/>
              </a:rPr>
              <a:t>a queued meal scan is not a redemption; the scanner says "do not serve this meal"</a:t>
            </a:r>
          </a:p>
        </p:txBody>
      </p:sp>
      <p:sp>
        <p:nvSpPr>
          <p:cNvPr id="15" name="Rounded Rectangle 14"/>
          <p:cNvSpPr/>
          <p:nvPr/>
        </p:nvSpPr>
        <p:spPr>
          <a:xfrm>
            <a:off x="822960" y="3931920"/>
            <a:ext cx="10607040" cy="777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023359"/>
            <a:ext cx="2377440" cy="640080"/>
          </a:xfrm>
          <a:prstGeom prst="rect">
            <a:avLst/>
          </a:prstGeom>
          <a:noFill/>
        </p:spPr>
        <p:txBody>
          <a:bodyPr wrap="square" lIns="45720" rIns="45720" tIns="27432" bIns="27432" anchor="ctr">
            <a:spAutoFit/>
          </a:bodyPr>
          <a:lstStyle/>
          <a:p>
            <a:pPr algn="l"/>
            <a:r>
              <a:rPr sz="1600" b="1" i="0">
                <a:solidFill>
                  <a:srgbClr val="192D4B"/>
                </a:solidFill>
                <a:latin typeface="Calibri"/>
              </a:rPr>
              <a:t>Notifications</a:t>
            </a:r>
          </a:p>
        </p:txBody>
      </p:sp>
      <p:sp>
        <p:nvSpPr>
          <p:cNvPr id="17" name="TextBox 16"/>
          <p:cNvSpPr txBox="1"/>
          <p:nvPr/>
        </p:nvSpPr>
        <p:spPr>
          <a:xfrm>
            <a:off x="3383280" y="4023359"/>
            <a:ext cx="7955279" cy="640080"/>
          </a:xfrm>
          <a:prstGeom prst="rect">
            <a:avLst/>
          </a:prstGeom>
          <a:noFill/>
        </p:spPr>
        <p:txBody>
          <a:bodyPr wrap="square" lIns="45720" rIns="45720" tIns="27432" bIns="27432" anchor="ctr">
            <a:spAutoFit/>
          </a:bodyPr>
          <a:lstStyle/>
          <a:p>
            <a:pPr algn="l"/>
            <a:r>
              <a:rPr sz="1500" b="0" i="0">
                <a:solidFill>
                  <a:srgbClr val="232323"/>
                </a:solidFill>
                <a:latin typeface="Calibri"/>
              </a:rPr>
              <a:t>recipient rows committed first, pushes sent after; a recipient is "sent" only when one of their own tokens was accepted</a:t>
            </a:r>
          </a:p>
        </p:txBody>
      </p:sp>
      <p:sp>
        <p:nvSpPr>
          <p:cNvPr id="18" name="Rounded Rectangle 17"/>
          <p:cNvSpPr/>
          <p:nvPr/>
        </p:nvSpPr>
        <p:spPr>
          <a:xfrm>
            <a:off x="822960" y="4846320"/>
            <a:ext cx="1060704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937759"/>
            <a:ext cx="2377440" cy="640080"/>
          </a:xfrm>
          <a:prstGeom prst="rect">
            <a:avLst/>
          </a:prstGeom>
          <a:noFill/>
        </p:spPr>
        <p:txBody>
          <a:bodyPr wrap="square" lIns="45720" rIns="45720" tIns="27432" bIns="27432" anchor="ctr">
            <a:spAutoFit/>
          </a:bodyPr>
          <a:lstStyle/>
          <a:p>
            <a:pPr algn="l"/>
            <a:r>
              <a:rPr sz="1600" b="1" i="0">
                <a:solidFill>
                  <a:srgbClr val="192D4B"/>
                </a:solidFill>
                <a:latin typeface="Calibri"/>
              </a:rPr>
              <a:t>Access control</a:t>
            </a:r>
          </a:p>
        </p:txBody>
      </p:sp>
      <p:sp>
        <p:nvSpPr>
          <p:cNvPr id="20" name="TextBox 19"/>
          <p:cNvSpPr txBox="1"/>
          <p:nvPr/>
        </p:nvSpPr>
        <p:spPr>
          <a:xfrm>
            <a:off x="3383280" y="4937759"/>
            <a:ext cx="7955279" cy="640080"/>
          </a:xfrm>
          <a:prstGeom prst="rect">
            <a:avLst/>
          </a:prstGeom>
          <a:noFill/>
        </p:spPr>
        <p:txBody>
          <a:bodyPr wrap="square" lIns="45720" rIns="45720" tIns="27432" bIns="27432" anchor="ctr">
            <a:spAutoFit/>
          </a:bodyPr>
          <a:lstStyle/>
          <a:p>
            <a:pPr algn="l"/>
            <a:r>
              <a:rPr sz="1500" b="0" i="0">
                <a:solidFill>
                  <a:srgbClr val="232323"/>
                </a:solidFill>
                <a:latin typeface="Calibri"/>
              </a:rPr>
              <a:t>attendees see only their own vouchers and notifications; reports are organiser only; each rule has a 403 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Challenges and Solutions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12</a:t>
            </a:r>
            <a:endParaRPr dirty="0"/>
          </a:p>
        </p:txBody>
      </p:sp>
      <p:sp>
        <p:nvSpPr>
          <p:cNvPr id="6" name="Rounded Rectangle 5"/>
          <p:cNvSpPr/>
          <p:nvPr/>
        </p:nvSpPr>
        <p:spPr>
          <a:xfrm>
            <a:off x="822960" y="1143000"/>
            <a:ext cx="10607040" cy="10972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216152"/>
            <a:ext cx="5120640" cy="365760"/>
          </a:xfrm>
          <a:prstGeom prst="rect">
            <a:avLst/>
          </a:prstGeom>
          <a:noFill/>
        </p:spPr>
        <p:txBody>
          <a:bodyPr wrap="square" lIns="45720" rIns="45720" tIns="27432" bIns="27432" anchor="t">
            <a:spAutoFit/>
          </a:bodyPr>
          <a:lstStyle/>
          <a:p>
            <a:pPr algn="l"/>
            <a:r>
              <a:rPr sz="1500" b="1" i="0">
                <a:solidFill>
                  <a:srgbClr val="192D4B"/>
                </a:solidFill>
                <a:latin typeface="Calibri"/>
              </a:rPr>
              <a:t>The first race test passed for the wrong reason</a:t>
            </a:r>
          </a:p>
        </p:txBody>
      </p:sp>
      <p:sp>
        <p:nvSpPr>
          <p:cNvPr id="8" name="TextBox 7"/>
          <p:cNvSpPr txBox="1"/>
          <p:nvPr/>
        </p:nvSpPr>
        <p:spPr>
          <a:xfrm>
            <a:off x="960120" y="1581912"/>
            <a:ext cx="5120640" cy="640080"/>
          </a:xfrm>
          <a:prstGeom prst="rect">
            <a:avLst/>
          </a:prstGeom>
          <a:noFill/>
        </p:spPr>
        <p:txBody>
          <a:bodyPr wrap="square" lIns="45720" rIns="45720" tIns="27432" bIns="27432" anchor="t">
            <a:spAutoFit/>
          </a:bodyPr>
          <a:lstStyle/>
          <a:p>
            <a:pPr algn="l"/>
            <a:r>
              <a:rPr sz="1300" b="0" i="0">
                <a:solidFill>
                  <a:srgbClr val="5A6370"/>
                </a:solidFill>
                <a:latin typeface="Calibri"/>
              </a:rPr>
              <a:t>it ran on a one-request-at-a-time server, so it could not tell a safe design from a naive one</a:t>
            </a:r>
          </a:p>
        </p:txBody>
      </p:sp>
      <p:sp>
        <p:nvSpPr>
          <p:cNvPr id="9" name="TextBox 8"/>
          <p:cNvSpPr txBox="1"/>
          <p:nvPr/>
        </p:nvSpPr>
        <p:spPr>
          <a:xfrm>
            <a:off x="6263640" y="1216152"/>
            <a:ext cx="822960" cy="365760"/>
          </a:xfrm>
          <a:prstGeom prst="rect">
            <a:avLst/>
          </a:prstGeom>
          <a:noFill/>
        </p:spPr>
        <p:txBody>
          <a:bodyPr wrap="square" lIns="45720" rIns="45720" tIns="27432" bIns="27432" anchor="t">
            <a:spAutoFit/>
          </a:bodyPr>
          <a:lstStyle/>
          <a:p>
            <a:pPr algn="l"/>
            <a:r>
              <a:rPr sz="1300" b="1" i="0">
                <a:solidFill>
                  <a:srgbClr val="0B7A6F"/>
                </a:solidFill>
                <a:latin typeface="Calibri"/>
              </a:rPr>
              <a:t>Solution</a:t>
            </a:r>
          </a:p>
        </p:txBody>
      </p:sp>
      <p:sp>
        <p:nvSpPr>
          <p:cNvPr id="10" name="TextBox 9"/>
          <p:cNvSpPr txBox="1"/>
          <p:nvPr/>
        </p:nvSpPr>
        <p:spPr>
          <a:xfrm>
            <a:off x="6263640" y="1527048"/>
            <a:ext cx="5029200" cy="685800"/>
          </a:xfrm>
          <a:prstGeom prst="rect">
            <a:avLst/>
          </a:prstGeom>
          <a:noFill/>
        </p:spPr>
        <p:txBody>
          <a:bodyPr wrap="square" lIns="45720" rIns="45720" tIns="27432" bIns="27432" anchor="t">
            <a:spAutoFit/>
          </a:bodyPr>
          <a:lstStyle/>
          <a:p>
            <a:pPr algn="l"/>
            <a:r>
              <a:rPr sz="1400" b="0" i="0">
                <a:solidFill>
                  <a:srgbClr val="232323"/>
                </a:solidFill>
                <a:latin typeface="Calibri"/>
              </a:rPr>
              <a:t>five server processes on PostgreSQL, every combination of the two safeguards, and a no-safeguard control expected to fail</a:t>
            </a:r>
          </a:p>
        </p:txBody>
      </p:sp>
      <p:sp>
        <p:nvSpPr>
          <p:cNvPr id="11" name="Rounded Rectangle 10"/>
          <p:cNvSpPr/>
          <p:nvPr/>
        </p:nvSpPr>
        <p:spPr>
          <a:xfrm>
            <a:off x="822960" y="2350008"/>
            <a:ext cx="10607040" cy="10972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423160"/>
            <a:ext cx="5120640" cy="365760"/>
          </a:xfrm>
          <a:prstGeom prst="rect">
            <a:avLst/>
          </a:prstGeom>
          <a:noFill/>
        </p:spPr>
        <p:txBody>
          <a:bodyPr wrap="square" lIns="45720" rIns="45720" tIns="27432" bIns="27432" anchor="t">
            <a:spAutoFit/>
          </a:bodyPr>
          <a:lstStyle/>
          <a:p>
            <a:pPr algn="l"/>
            <a:r>
              <a:rPr sz="1500" b="1" i="0">
                <a:solidFill>
                  <a:srgbClr val="192D4B"/>
                </a:solidFill>
                <a:latin typeface="Calibri"/>
              </a:rPr>
              <a:t>Attendees could read other people's data</a:t>
            </a:r>
          </a:p>
        </p:txBody>
      </p:sp>
      <p:sp>
        <p:nvSpPr>
          <p:cNvPr id="13" name="TextBox 12"/>
          <p:cNvSpPr txBox="1"/>
          <p:nvPr/>
        </p:nvSpPr>
        <p:spPr>
          <a:xfrm>
            <a:off x="960120" y="2788920"/>
            <a:ext cx="5120640" cy="640080"/>
          </a:xfrm>
          <a:prstGeom prst="rect">
            <a:avLst/>
          </a:prstGeom>
          <a:noFill/>
        </p:spPr>
        <p:txBody>
          <a:bodyPr wrap="square" lIns="45720" rIns="45720" tIns="27432" bIns="27432" anchor="t">
            <a:spAutoFit/>
          </a:bodyPr>
          <a:lstStyle/>
          <a:p>
            <a:pPr algn="l"/>
            <a:r>
              <a:rPr sz="1300" b="0" i="0">
                <a:solidFill>
                  <a:srgbClr val="5A6370"/>
                </a:solidFill>
                <a:latin typeface="Calibri"/>
              </a:rPr>
              <a:t>another attendee's voucher, the exports, redemption history, organiser notifications</a:t>
            </a:r>
          </a:p>
        </p:txBody>
      </p:sp>
      <p:sp>
        <p:nvSpPr>
          <p:cNvPr id="14" name="TextBox 13"/>
          <p:cNvSpPr txBox="1"/>
          <p:nvPr/>
        </p:nvSpPr>
        <p:spPr>
          <a:xfrm>
            <a:off x="6263640" y="2423160"/>
            <a:ext cx="822960" cy="365760"/>
          </a:xfrm>
          <a:prstGeom prst="rect">
            <a:avLst/>
          </a:prstGeom>
          <a:noFill/>
        </p:spPr>
        <p:txBody>
          <a:bodyPr wrap="square" lIns="45720" rIns="45720" tIns="27432" bIns="27432" anchor="t">
            <a:spAutoFit/>
          </a:bodyPr>
          <a:lstStyle/>
          <a:p>
            <a:pPr algn="l"/>
            <a:r>
              <a:rPr sz="1300" b="1" i="0">
                <a:solidFill>
                  <a:srgbClr val="0B7A6F"/>
                </a:solidFill>
                <a:latin typeface="Calibri"/>
              </a:rPr>
              <a:t>Solution</a:t>
            </a:r>
          </a:p>
        </p:txBody>
      </p:sp>
      <p:sp>
        <p:nvSpPr>
          <p:cNvPr id="15" name="TextBox 14"/>
          <p:cNvSpPr txBox="1"/>
          <p:nvPr/>
        </p:nvSpPr>
        <p:spPr>
          <a:xfrm>
            <a:off x="6263640" y="2734056"/>
            <a:ext cx="5029200" cy="685800"/>
          </a:xfrm>
          <a:prstGeom prst="rect">
            <a:avLst/>
          </a:prstGeom>
          <a:noFill/>
        </p:spPr>
        <p:txBody>
          <a:bodyPr wrap="square" lIns="45720" rIns="45720" tIns="27432" bIns="27432" anchor="t">
            <a:spAutoFit/>
          </a:bodyPr>
          <a:lstStyle/>
          <a:p>
            <a:pPr algn="l"/>
            <a:r>
              <a:rPr sz="1400" b="0" i="0">
                <a:solidFill>
                  <a:srgbClr val="232323"/>
                </a:solidFill>
                <a:latin typeface="Calibri"/>
              </a:rPr>
              <a:t>role and ownership checks on each route, each with a test that expects 403 and fails on the old code</a:t>
            </a:r>
          </a:p>
        </p:txBody>
      </p:sp>
      <p:sp>
        <p:nvSpPr>
          <p:cNvPr id="16" name="Rounded Rectangle 15"/>
          <p:cNvSpPr/>
          <p:nvPr/>
        </p:nvSpPr>
        <p:spPr>
          <a:xfrm>
            <a:off x="822960" y="3557016"/>
            <a:ext cx="10607040" cy="10972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630168"/>
            <a:ext cx="5120640" cy="365760"/>
          </a:xfrm>
          <a:prstGeom prst="rect">
            <a:avLst/>
          </a:prstGeom>
          <a:noFill/>
        </p:spPr>
        <p:txBody>
          <a:bodyPr wrap="square" lIns="45720" rIns="45720" tIns="27432" bIns="27432" anchor="t">
            <a:spAutoFit/>
          </a:bodyPr>
          <a:lstStyle/>
          <a:p>
            <a:pPr algn="l"/>
            <a:r>
              <a:rPr sz="1500" b="1" i="0">
                <a:solidFill>
                  <a:srgbClr val="192D4B"/>
                </a:solidFill>
                <a:latin typeface="Calibri"/>
              </a:rPr>
              <a:t>The voucher flow did not work in the app</a:t>
            </a:r>
          </a:p>
        </p:txBody>
      </p:sp>
      <p:sp>
        <p:nvSpPr>
          <p:cNvPr id="18" name="TextBox 17"/>
          <p:cNvSpPr txBox="1"/>
          <p:nvPr/>
        </p:nvSpPr>
        <p:spPr>
          <a:xfrm>
            <a:off x="960120" y="3995928"/>
            <a:ext cx="5120640" cy="640080"/>
          </a:xfrm>
          <a:prstGeom prst="rect">
            <a:avLst/>
          </a:prstGeom>
          <a:noFill/>
        </p:spPr>
        <p:txBody>
          <a:bodyPr wrap="square" lIns="45720" rIns="45720" tIns="27432" bIns="27432" anchor="t">
            <a:spAutoFit/>
          </a:bodyPr>
          <a:lstStyle/>
          <a:p>
            <a:pPr algn="l"/>
            <a:r>
              <a:rPr sz="1300" b="0" i="0">
                <a:solidFill>
                  <a:srgbClr val="5A6370"/>
                </a:solidFill>
                <a:latin typeface="Calibri"/>
              </a:rPr>
              <a:t>the app showed only the check-in pass, which the meal scanner rightly rejects with 404</a:t>
            </a:r>
          </a:p>
        </p:txBody>
      </p:sp>
      <p:sp>
        <p:nvSpPr>
          <p:cNvPr id="19" name="TextBox 18"/>
          <p:cNvSpPr txBox="1"/>
          <p:nvPr/>
        </p:nvSpPr>
        <p:spPr>
          <a:xfrm>
            <a:off x="6263640" y="3630168"/>
            <a:ext cx="822960" cy="365760"/>
          </a:xfrm>
          <a:prstGeom prst="rect">
            <a:avLst/>
          </a:prstGeom>
          <a:noFill/>
        </p:spPr>
        <p:txBody>
          <a:bodyPr wrap="square" lIns="45720" rIns="45720" tIns="27432" bIns="27432" anchor="t">
            <a:spAutoFit/>
          </a:bodyPr>
          <a:lstStyle/>
          <a:p>
            <a:pPr algn="l"/>
            <a:r>
              <a:rPr sz="1300" b="1" i="0">
                <a:solidFill>
                  <a:srgbClr val="0B7A6F"/>
                </a:solidFill>
                <a:latin typeface="Calibri"/>
              </a:rPr>
              <a:t>Solution</a:t>
            </a:r>
          </a:p>
        </p:txBody>
      </p:sp>
      <p:sp>
        <p:nvSpPr>
          <p:cNvPr id="20" name="TextBox 19"/>
          <p:cNvSpPr txBox="1"/>
          <p:nvPr/>
        </p:nvSpPr>
        <p:spPr>
          <a:xfrm>
            <a:off x="6263640" y="3941064"/>
            <a:ext cx="5029200" cy="685800"/>
          </a:xfrm>
          <a:prstGeom prst="rect">
            <a:avLst/>
          </a:prstGeom>
          <a:noFill/>
        </p:spPr>
        <p:txBody>
          <a:bodyPr wrap="square" lIns="45720" rIns="45720" tIns="27432" bIns="27432" anchor="t">
            <a:spAutoFit/>
          </a:bodyPr>
          <a:lstStyle/>
          <a:p>
            <a:pPr algn="l"/>
            <a:r>
              <a:rPr sz="1400" b="0" i="0">
                <a:solidFill>
                  <a:srgbClr val="232323"/>
                </a:solidFill>
                <a:latin typeface="Calibri"/>
              </a:rPr>
              <a:t>My meals screen showing each voucher as a QR; trial gave 200 then 409</a:t>
            </a:r>
          </a:p>
        </p:txBody>
      </p:sp>
      <p:sp>
        <p:nvSpPr>
          <p:cNvPr id="21" name="Rounded Rectangle 20"/>
          <p:cNvSpPr/>
          <p:nvPr/>
        </p:nvSpPr>
        <p:spPr>
          <a:xfrm>
            <a:off x="822960" y="4764024"/>
            <a:ext cx="10607040" cy="109728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837176"/>
            <a:ext cx="5120640" cy="365760"/>
          </a:xfrm>
          <a:prstGeom prst="rect">
            <a:avLst/>
          </a:prstGeom>
          <a:noFill/>
        </p:spPr>
        <p:txBody>
          <a:bodyPr wrap="square" lIns="45720" rIns="45720" tIns="27432" bIns="27432" anchor="t">
            <a:spAutoFit/>
          </a:bodyPr>
          <a:lstStyle/>
          <a:p>
            <a:pPr algn="l"/>
            <a:r>
              <a:rPr sz="1500" b="1" i="0">
                <a:solidFill>
                  <a:srgbClr val="192D4B"/>
                </a:solidFill>
                <a:latin typeface="Calibri"/>
              </a:rPr>
              <a:t>Offline replay dropped scans</a:t>
            </a:r>
          </a:p>
        </p:txBody>
      </p:sp>
      <p:sp>
        <p:nvSpPr>
          <p:cNvPr id="23" name="TextBox 22"/>
          <p:cNvSpPr txBox="1"/>
          <p:nvPr/>
        </p:nvSpPr>
        <p:spPr>
          <a:xfrm>
            <a:off x="960120" y="5202936"/>
            <a:ext cx="5120640" cy="640080"/>
          </a:xfrm>
          <a:prstGeom prst="rect">
            <a:avLst/>
          </a:prstGeom>
          <a:noFill/>
        </p:spPr>
        <p:txBody>
          <a:bodyPr wrap="square" lIns="45720" rIns="45720" tIns="27432" bIns="27432" anchor="t">
            <a:spAutoFit/>
          </a:bodyPr>
          <a:lstStyle/>
          <a:p>
            <a:pPr algn="l"/>
            <a:r>
              <a:rPr sz="1300" b="0" i="0">
                <a:solidFill>
                  <a:srgbClr val="5A6370"/>
                </a:solidFill>
                <a:latin typeface="Calibri"/>
              </a:rPr>
              <a:t>an expired login or server fault was treated as final and the scan lost</a:t>
            </a:r>
          </a:p>
        </p:txBody>
      </p:sp>
      <p:sp>
        <p:nvSpPr>
          <p:cNvPr id="24" name="TextBox 23"/>
          <p:cNvSpPr txBox="1"/>
          <p:nvPr/>
        </p:nvSpPr>
        <p:spPr>
          <a:xfrm>
            <a:off x="6263640" y="4837176"/>
            <a:ext cx="822960" cy="365760"/>
          </a:xfrm>
          <a:prstGeom prst="rect">
            <a:avLst/>
          </a:prstGeom>
          <a:noFill/>
        </p:spPr>
        <p:txBody>
          <a:bodyPr wrap="square" lIns="45720" rIns="45720" tIns="27432" bIns="27432" anchor="t">
            <a:spAutoFit/>
          </a:bodyPr>
          <a:lstStyle/>
          <a:p>
            <a:pPr algn="l"/>
            <a:r>
              <a:rPr sz="1300" b="1" i="0">
                <a:solidFill>
                  <a:srgbClr val="0B7A6F"/>
                </a:solidFill>
                <a:latin typeface="Calibri"/>
              </a:rPr>
              <a:t>Solution</a:t>
            </a:r>
          </a:p>
        </p:txBody>
      </p:sp>
      <p:sp>
        <p:nvSpPr>
          <p:cNvPr id="25" name="TextBox 24"/>
          <p:cNvSpPr txBox="1"/>
          <p:nvPr/>
        </p:nvSpPr>
        <p:spPr>
          <a:xfrm>
            <a:off x="6263640" y="5148072"/>
            <a:ext cx="5029200" cy="685800"/>
          </a:xfrm>
          <a:prstGeom prst="rect">
            <a:avLst/>
          </a:prstGeom>
          <a:noFill/>
        </p:spPr>
        <p:txBody>
          <a:bodyPr wrap="square" lIns="45720" rIns="45720" tIns="27432" bIns="27432" anchor="t">
            <a:spAutoFit/>
          </a:bodyPr>
          <a:lstStyle/>
          <a:p>
            <a:pPr algn="l"/>
            <a:r>
              <a:rPr sz="1400" b="0" i="0">
                <a:solidFill>
                  <a:srgbClr val="232323"/>
                </a:solidFill>
                <a:latin typeface="Calibri"/>
              </a:rPr>
              <a:t>only 404, 409 and 422 settle a scan; everything else is kept, in order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Test Results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13</a:t>
            </a:r>
            <a:endParaRPr dirty="0"/>
          </a:p>
        </p:txBody>
      </p:sp>
      <p:sp>
        <p:nvSpPr>
          <p:cNvPr id="6" name="Rounded Rectangle 5"/>
          <p:cNvSpPr/>
          <p:nvPr/>
        </p:nvSpPr>
        <p:spPr>
          <a:xfrm>
            <a:off x="822960" y="1143000"/>
            <a:ext cx="3383280" cy="141732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188720"/>
            <a:ext cx="3017520" cy="685800"/>
          </a:xfrm>
          <a:prstGeom prst="rect">
            <a:avLst/>
          </a:prstGeom>
          <a:noFill/>
        </p:spPr>
        <p:txBody>
          <a:bodyPr wrap="square" lIns="45720" rIns="45720" tIns="27432" bIns="27432" anchor="t">
            <a:spAutoFit/>
          </a:bodyPr>
          <a:lstStyle/>
          <a:p>
            <a:pPr algn="l"/>
            <a:r>
              <a:rPr sz="3400" b="1" i="0">
                <a:solidFill>
                  <a:srgbClr val="FFFFFF"/>
                </a:solidFill>
                <a:latin typeface="Calibri"/>
              </a:rPr>
              <a:t>70 / 70</a:t>
            </a:r>
          </a:p>
        </p:txBody>
      </p:sp>
      <p:sp>
        <p:nvSpPr>
          <p:cNvPr id="8" name="TextBox 7"/>
          <p:cNvSpPr txBox="1"/>
          <p:nvPr/>
        </p:nvSpPr>
        <p:spPr>
          <a:xfrm>
            <a:off x="1005840" y="1874519"/>
            <a:ext cx="3017520" cy="640080"/>
          </a:xfrm>
          <a:prstGeom prst="rect">
            <a:avLst/>
          </a:prstGeom>
          <a:noFill/>
        </p:spPr>
        <p:txBody>
          <a:bodyPr wrap="square" lIns="45720" rIns="45720" tIns="27432" bIns="27432" anchor="t">
            <a:spAutoFit/>
          </a:bodyPr>
          <a:lstStyle/>
          <a:p>
            <a:pPr algn="l"/>
            <a:r>
              <a:rPr sz="1300" b="0" i="0">
                <a:solidFill>
                  <a:srgbClr val="FFFFFF"/>
                </a:solidFill>
                <a:latin typeface="Calibri"/>
              </a:rPr>
              <a:t>backend tests pass</a:t>
            </a:r>
          </a:p>
          <a:p>
            <a:pPr algn="l">
              <a:spcBef>
                <a:spcPts val="600"/>
              </a:spcBef>
            </a:pPr>
            <a:r>
              <a:rPr sz="1300" b="0" i="0">
                <a:solidFill>
                  <a:srgbClr val="FFFFFF"/>
                </a:solidFill>
                <a:latin typeface="Calibri"/>
              </a:rPr>
              <a:t>31 are this component's</a:t>
            </a:r>
          </a:p>
        </p:txBody>
      </p:sp>
      <p:sp>
        <p:nvSpPr>
          <p:cNvPr id="9" name="Rounded Rectangle 8"/>
          <p:cNvSpPr/>
          <p:nvPr/>
        </p:nvSpPr>
        <p:spPr>
          <a:xfrm>
            <a:off x="4434840" y="1143000"/>
            <a:ext cx="3383280" cy="141732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188720"/>
            <a:ext cx="3017520" cy="685800"/>
          </a:xfrm>
          <a:prstGeom prst="rect">
            <a:avLst/>
          </a:prstGeom>
          <a:noFill/>
        </p:spPr>
        <p:txBody>
          <a:bodyPr wrap="square" lIns="45720" rIns="45720" tIns="27432" bIns="27432" anchor="t">
            <a:spAutoFit/>
          </a:bodyPr>
          <a:lstStyle/>
          <a:p>
            <a:pPr algn="l"/>
            <a:r>
              <a:rPr sz="3400" b="1" i="0">
                <a:solidFill>
                  <a:srgbClr val="FFFFFF"/>
                </a:solidFill>
                <a:latin typeface="Calibri"/>
              </a:rPr>
              <a:t>30 / 30</a:t>
            </a:r>
          </a:p>
        </p:txBody>
      </p:sp>
      <p:sp>
        <p:nvSpPr>
          <p:cNvPr id="11" name="TextBox 10"/>
          <p:cNvSpPr txBox="1"/>
          <p:nvPr/>
        </p:nvSpPr>
        <p:spPr>
          <a:xfrm>
            <a:off x="4617720" y="1874519"/>
            <a:ext cx="3017520" cy="640080"/>
          </a:xfrm>
          <a:prstGeom prst="rect">
            <a:avLst/>
          </a:prstGeom>
          <a:noFill/>
        </p:spPr>
        <p:txBody>
          <a:bodyPr wrap="square" lIns="45720" rIns="45720" tIns="27432" bIns="27432" anchor="t">
            <a:spAutoFit/>
          </a:bodyPr>
          <a:lstStyle/>
          <a:p>
            <a:pPr algn="l"/>
            <a:r>
              <a:rPr sz="1300" b="0" i="0">
                <a:solidFill>
                  <a:srgbClr val="FFFFFF"/>
                </a:solidFill>
                <a:latin typeface="Calibri"/>
              </a:rPr>
              <a:t>Flutter tests pass</a:t>
            </a:r>
          </a:p>
        </p:txBody>
      </p:sp>
      <p:sp>
        <p:nvSpPr>
          <p:cNvPr id="12" name="Rounded Rectangle 11"/>
          <p:cNvSpPr/>
          <p:nvPr/>
        </p:nvSpPr>
        <p:spPr>
          <a:xfrm>
            <a:off x="8046720" y="1143000"/>
            <a:ext cx="3383280" cy="141732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188720"/>
            <a:ext cx="3017520" cy="685800"/>
          </a:xfrm>
          <a:prstGeom prst="rect">
            <a:avLst/>
          </a:prstGeom>
          <a:noFill/>
        </p:spPr>
        <p:txBody>
          <a:bodyPr wrap="square" lIns="45720" rIns="45720" tIns="27432" bIns="27432" anchor="t">
            <a:spAutoFit/>
          </a:bodyPr>
          <a:lstStyle/>
          <a:p>
            <a:pPr algn="l"/>
            <a:r>
              <a:rPr sz="3400" b="1" i="0">
                <a:solidFill>
                  <a:srgbClr val="FFFFFF"/>
                </a:solidFill>
                <a:latin typeface="Calibri"/>
              </a:rPr>
              <a:t>55</a:t>
            </a:r>
          </a:p>
        </p:txBody>
      </p:sp>
      <p:sp>
        <p:nvSpPr>
          <p:cNvPr id="14" name="TextBox 13"/>
          <p:cNvSpPr txBox="1"/>
          <p:nvPr/>
        </p:nvSpPr>
        <p:spPr>
          <a:xfrm>
            <a:off x="8229600" y="1874519"/>
            <a:ext cx="3017520" cy="640080"/>
          </a:xfrm>
          <a:prstGeom prst="rect">
            <a:avLst/>
          </a:prstGeom>
          <a:noFill/>
        </p:spPr>
        <p:txBody>
          <a:bodyPr wrap="square" lIns="45720" rIns="45720" tIns="27432" bIns="27432" anchor="t">
            <a:spAutoFit/>
          </a:bodyPr>
          <a:lstStyle/>
          <a:p>
            <a:pPr algn="l"/>
            <a:r>
              <a:rPr sz="1300" b="0" i="0">
                <a:solidFill>
                  <a:srgbClr val="FFFFFF"/>
                </a:solidFill>
                <a:latin typeface="Calibri"/>
              </a:rPr>
              <a:t>test cases TC-01 to TC-55</a:t>
            </a:r>
          </a:p>
          <a:p>
            <a:pPr algn="l">
              <a:spcBef>
                <a:spcPts val="600"/>
              </a:spcBef>
            </a:pPr>
            <a:r>
              <a:rPr sz="1300" b="0" i="0">
                <a:solidFill>
                  <a:srgbClr val="FFFFFF"/>
                </a:solidFill>
                <a:latin typeface="Calibri"/>
              </a:rPr>
              <a:t>in the validation document</a:t>
            </a:r>
          </a:p>
        </p:txBody>
      </p:sp>
      <p:graphicFrame>
        <p:nvGraphicFramePr>
          <p:cNvPr id="15" name="Table 14"/>
          <p:cNvGraphicFramePr>
            <a:graphicFrameLocks noGrp="1"/>
          </p:cNvGraphicFramePr>
          <p:nvPr/>
        </p:nvGraphicFramePr>
        <p:xfrm>
          <a:off x="822960" y="2788920"/>
          <a:ext cx="10607040" cy="3008376"/>
        </p:xfrm>
        <a:graphic>
          <a:graphicData uri="http://schemas.openxmlformats.org/drawingml/2006/table">
            <a:tbl>
              <a:tblPr firstRow="1" bandRow="1">
                <a:tableStyleId>{5940675A-B579-460E-94D1-54222C63F5DA}</a:tableStyleId>
              </a:tblPr>
              <a:tblGrid>
                <a:gridCol w="1097280"/>
                <a:gridCol w="3657600"/>
                <a:gridCol w="2377440"/>
                <a:gridCol w="2377440"/>
                <a:gridCol w="1097280"/>
              </a:tblGrid>
              <a:tr h="429768">
                <a:tc>
                  <a:txBody>
                    <a:bodyPr wrap="square"/>
                    <a:lstStyle/>
                    <a:p>
                      <a:r>
                        <a:rPr sz="1300" b="1">
                          <a:solidFill>
                            <a:srgbClr val="FFFFFF"/>
                          </a:solidFill>
                          <a:latin typeface="Calibri"/>
                        </a:rPr>
                        <a:t>ID</a:t>
                      </a:r>
                    </a:p>
                  </a:txBody>
                  <a:tcPr marL="73152" marR="73152" marT="36576" marB="36576" anchor="ctr">
                    <a:solidFill>
                      <a:srgbClr val="192D4B"/>
                    </a:solidFill>
                  </a:tcPr>
                </a:tc>
                <a:tc>
                  <a:txBody>
                    <a:bodyPr wrap="square"/>
                    <a:lstStyle/>
                    <a:p>
                      <a:r>
                        <a:rPr sz="1300" b="1">
                          <a:solidFill>
                            <a:srgbClr val="FFFFFF"/>
                          </a:solidFill>
                          <a:latin typeface="Calibri"/>
                        </a:rPr>
                        <a:t>Test case</a:t>
                      </a:r>
                    </a:p>
                  </a:txBody>
                  <a:tcPr marL="73152" marR="73152" marT="36576" marB="36576" anchor="ctr">
                    <a:solidFill>
                      <a:srgbClr val="192D4B"/>
                    </a:solidFill>
                  </a:tcPr>
                </a:tc>
                <a:tc>
                  <a:txBody>
                    <a:bodyPr wrap="square"/>
                    <a:lstStyle/>
                    <a:p>
                      <a:r>
                        <a:rPr sz="1300" b="1">
                          <a:solidFill>
                            <a:srgbClr val="FFFFFF"/>
                          </a:solidFill>
                          <a:latin typeface="Calibri"/>
                        </a:rPr>
                        <a:t>Expected</a:t>
                      </a:r>
                    </a:p>
                  </a:txBody>
                  <a:tcPr marL="73152" marR="73152" marT="36576" marB="36576" anchor="ctr">
                    <a:solidFill>
                      <a:srgbClr val="192D4B"/>
                    </a:solidFill>
                  </a:tcPr>
                </a:tc>
                <a:tc>
                  <a:txBody>
                    <a:bodyPr wrap="square"/>
                    <a:lstStyle/>
                    <a:p>
                      <a:r>
                        <a:rPr sz="1300" b="1">
                          <a:solidFill>
                            <a:srgbClr val="FFFFFF"/>
                          </a:solidFill>
                          <a:latin typeface="Calibri"/>
                        </a:rPr>
                        <a:t>Actual</a:t>
                      </a:r>
                    </a:p>
                  </a:txBody>
                  <a:tcPr marL="73152" marR="73152" marT="36576" marB="36576" anchor="ctr">
                    <a:solidFill>
                      <a:srgbClr val="192D4B"/>
                    </a:solidFill>
                  </a:tcPr>
                </a:tc>
                <a:tc>
                  <a:txBody>
                    <a:bodyPr wrap="square"/>
                    <a:lstStyle/>
                    <a:p>
                      <a:r>
                        <a:rPr sz="1300" b="1">
                          <a:solidFill>
                            <a:srgbClr val="FFFFFF"/>
                          </a:solidFill>
                          <a:latin typeface="Calibri"/>
                        </a:rPr>
                        <a:t>Result</a:t>
                      </a:r>
                    </a:p>
                  </a:txBody>
                  <a:tcPr marL="73152" marR="73152" marT="36576" marB="36576" anchor="ctr">
                    <a:solidFill>
                      <a:srgbClr val="192D4B"/>
                    </a:solidFill>
                  </a:tcPr>
                </a:tc>
              </a:tr>
              <a:tr h="429768">
                <a:tc>
                  <a:txBody>
                    <a:bodyPr wrap="square"/>
                    <a:lstStyle/>
                    <a:p>
                      <a:r>
                        <a:rPr sz="1300">
                          <a:solidFill>
                            <a:srgbClr val="232323"/>
                          </a:solidFill>
                          <a:latin typeface="Calibri"/>
                        </a:rPr>
                        <a:t>TC-04</a:t>
                      </a:r>
                    </a:p>
                  </a:txBody>
                  <a:tcPr marL="73152" marR="73152" marT="36576" marB="36576" anchor="ctr">
                    <a:solidFill>
                      <a:srgbClr val="FFFFFF"/>
                    </a:solidFill>
                  </a:tcPr>
                </a:tc>
                <a:tc>
                  <a:txBody>
                    <a:bodyPr wrap="square"/>
                    <a:lstStyle/>
                    <a:p>
                      <a:r>
                        <a:rPr sz="1300">
                          <a:solidFill>
                            <a:srgbClr val="232323"/>
                          </a:solidFill>
                          <a:latin typeface="Calibri"/>
                        </a:rPr>
                        <a:t>valid meal voucher scan</a:t>
                      </a:r>
                    </a:p>
                  </a:txBody>
                  <a:tcPr marL="73152" marR="73152" marT="36576" marB="36576" anchor="ctr">
                    <a:solidFill>
                      <a:srgbClr val="FFFFFF"/>
                    </a:solidFill>
                  </a:tcPr>
                </a:tc>
                <a:tc>
                  <a:txBody>
                    <a:bodyPr wrap="square"/>
                    <a:lstStyle/>
                    <a:p>
                      <a:r>
                        <a:rPr sz="1300">
                          <a:solidFill>
                            <a:srgbClr val="232323"/>
                          </a:solidFill>
                          <a:latin typeface="Calibri"/>
                        </a:rPr>
                        <a:t>200, one redemption row</a:t>
                      </a:r>
                    </a:p>
                  </a:txBody>
                  <a:tcPr marL="73152" marR="73152" marT="36576" marB="36576" anchor="ctr">
                    <a:solidFill>
                      <a:srgbClr val="FFFFFF"/>
                    </a:solidFill>
                  </a:tcPr>
                </a:tc>
                <a:tc>
                  <a:txBody>
                    <a:bodyPr wrap="square"/>
                    <a:lstStyle/>
                    <a:p>
                      <a:r>
                        <a:rPr sz="1300">
                          <a:solidFill>
                            <a:srgbClr val="232323"/>
                          </a:solidFill>
                          <a:latin typeface="Calibri"/>
                        </a:rPr>
                        <a:t>200</a:t>
                      </a:r>
                    </a:p>
                  </a:txBody>
                  <a:tcPr marL="73152" marR="73152" marT="36576" marB="36576" anchor="ctr">
                    <a:solidFill>
                      <a:srgbClr val="FFFFFF"/>
                    </a:solidFill>
                  </a:tcPr>
                </a:tc>
                <a:tc>
                  <a:txBody>
                    <a:bodyPr wrap="square"/>
                    <a:lstStyle/>
                    <a:p>
                      <a:r>
                        <a:rPr sz="1300">
                          <a:solidFill>
                            <a:srgbClr val="232323"/>
                          </a:solidFill>
                          <a:latin typeface="Calibri"/>
                        </a:rPr>
                        <a:t>Pass</a:t>
                      </a:r>
                    </a:p>
                  </a:txBody>
                  <a:tcPr marL="73152" marR="73152" marT="36576" marB="36576" anchor="ctr">
                    <a:solidFill>
                      <a:srgbClr val="E3F4F1"/>
                    </a:solidFill>
                  </a:tcPr>
                </a:tc>
              </a:tr>
              <a:tr h="429768">
                <a:tc>
                  <a:txBody>
                    <a:bodyPr wrap="square"/>
                    <a:lstStyle/>
                    <a:p>
                      <a:r>
                        <a:rPr sz="1300">
                          <a:solidFill>
                            <a:srgbClr val="232323"/>
                          </a:solidFill>
                          <a:latin typeface="Calibri"/>
                        </a:rPr>
                        <a:t>TC-05</a:t>
                      </a:r>
                    </a:p>
                  </a:txBody>
                  <a:tcPr marL="73152" marR="73152" marT="36576" marB="36576" anchor="ctr">
                    <a:solidFill>
                      <a:srgbClr val="EEF2F7"/>
                    </a:solidFill>
                  </a:tcPr>
                </a:tc>
                <a:tc>
                  <a:txBody>
                    <a:bodyPr wrap="square"/>
                    <a:lstStyle/>
                    <a:p>
                      <a:r>
                        <a:rPr sz="1300">
                          <a:solidFill>
                            <a:srgbClr val="232323"/>
                          </a:solidFill>
                          <a:latin typeface="Calibri"/>
                        </a:rPr>
                        <a:t>second scan of a redeemed voucher</a:t>
                      </a:r>
                    </a:p>
                  </a:txBody>
                  <a:tcPr marL="73152" marR="73152" marT="36576" marB="36576" anchor="ctr">
                    <a:solidFill>
                      <a:srgbClr val="EEF2F7"/>
                    </a:solidFill>
                  </a:tcPr>
                </a:tc>
                <a:tc>
                  <a:txBody>
                    <a:bodyPr wrap="square"/>
                    <a:lstStyle/>
                    <a:p>
                      <a:r>
                        <a:rPr sz="1300">
                          <a:solidFill>
                            <a:srgbClr val="232323"/>
                          </a:solidFill>
                          <a:latin typeface="Calibri"/>
                        </a:rPr>
                        <a:t>409 with earlier time</a:t>
                      </a:r>
                    </a:p>
                  </a:txBody>
                  <a:tcPr marL="73152" marR="73152" marT="36576" marB="36576" anchor="ctr">
                    <a:solidFill>
                      <a:srgbClr val="EEF2F7"/>
                    </a:solidFill>
                  </a:tcPr>
                </a:tc>
                <a:tc>
                  <a:txBody>
                    <a:bodyPr wrap="square"/>
                    <a:lstStyle/>
                    <a:p>
                      <a:r>
                        <a:rPr sz="1300">
                          <a:solidFill>
                            <a:srgbClr val="232323"/>
                          </a:solidFill>
                          <a:latin typeface="Calibri"/>
                        </a:rPr>
                        <a:t>409</a:t>
                      </a:r>
                    </a:p>
                  </a:txBody>
                  <a:tcPr marL="73152" marR="73152" marT="36576" marB="36576" anchor="ctr">
                    <a:solidFill>
                      <a:srgbClr val="EEF2F7"/>
                    </a:solidFill>
                  </a:tcPr>
                </a:tc>
                <a:tc>
                  <a:txBody>
                    <a:bodyPr wrap="square"/>
                    <a:lstStyle/>
                    <a:p>
                      <a:r>
                        <a:rPr sz="1300">
                          <a:solidFill>
                            <a:srgbClr val="232323"/>
                          </a:solidFill>
                          <a:latin typeface="Calibri"/>
                        </a:rPr>
                        <a:t>Pass</a:t>
                      </a:r>
                    </a:p>
                  </a:txBody>
                  <a:tcPr marL="73152" marR="73152" marT="36576" marB="36576" anchor="ctr">
                    <a:solidFill>
                      <a:srgbClr val="E3F4F1"/>
                    </a:solidFill>
                  </a:tcPr>
                </a:tc>
              </a:tr>
              <a:tr h="429768">
                <a:tc>
                  <a:txBody>
                    <a:bodyPr wrap="square"/>
                    <a:lstStyle/>
                    <a:p>
                      <a:r>
                        <a:rPr sz="1300">
                          <a:solidFill>
                            <a:srgbClr val="232323"/>
                          </a:solidFill>
                          <a:latin typeface="Calibri"/>
                        </a:rPr>
                        <a:t>TC-06</a:t>
                      </a:r>
                    </a:p>
                  </a:txBody>
                  <a:tcPr marL="73152" marR="73152" marT="36576" marB="36576" anchor="ctr">
                    <a:solidFill>
                      <a:srgbClr val="FFFFFF"/>
                    </a:solidFill>
                  </a:tcPr>
                </a:tc>
                <a:tc>
                  <a:txBody>
                    <a:bodyPr wrap="square"/>
                    <a:lstStyle/>
                    <a:p>
                      <a:r>
                        <a:rPr sz="1300">
                          <a:solidFill>
                            <a:srgbClr val="232323"/>
                          </a:solidFill>
                          <a:latin typeface="Calibri"/>
                        </a:rPr>
                        <a:t>duplicate caught by the unique constraint</a:t>
                      </a:r>
                    </a:p>
                  </a:txBody>
                  <a:tcPr marL="73152" marR="73152" marT="36576" marB="36576" anchor="ctr">
                    <a:solidFill>
                      <a:srgbClr val="FFFFFF"/>
                    </a:solidFill>
                  </a:tcPr>
                </a:tc>
                <a:tc>
                  <a:txBody>
                    <a:bodyPr wrap="square"/>
                    <a:lstStyle/>
                    <a:p>
                      <a:r>
                        <a:rPr sz="1300">
                          <a:solidFill>
                            <a:srgbClr val="232323"/>
                          </a:solidFill>
                          <a:latin typeface="Calibri"/>
                        </a:rPr>
                        <a:t>409, not 500</a:t>
                      </a:r>
                    </a:p>
                  </a:txBody>
                  <a:tcPr marL="73152" marR="73152" marT="36576" marB="36576" anchor="ctr">
                    <a:solidFill>
                      <a:srgbClr val="FFFFFF"/>
                    </a:solidFill>
                  </a:tcPr>
                </a:tc>
                <a:tc>
                  <a:txBody>
                    <a:bodyPr wrap="square"/>
                    <a:lstStyle/>
                    <a:p>
                      <a:r>
                        <a:rPr sz="1300">
                          <a:solidFill>
                            <a:srgbClr val="232323"/>
                          </a:solidFill>
                          <a:latin typeface="Calibri"/>
                        </a:rPr>
                        <a:t>409</a:t>
                      </a:r>
                    </a:p>
                  </a:txBody>
                  <a:tcPr marL="73152" marR="73152" marT="36576" marB="36576" anchor="ctr">
                    <a:solidFill>
                      <a:srgbClr val="FFFFFF"/>
                    </a:solidFill>
                  </a:tcPr>
                </a:tc>
                <a:tc>
                  <a:txBody>
                    <a:bodyPr wrap="square"/>
                    <a:lstStyle/>
                    <a:p>
                      <a:r>
                        <a:rPr sz="1300">
                          <a:solidFill>
                            <a:srgbClr val="232323"/>
                          </a:solidFill>
                          <a:latin typeface="Calibri"/>
                        </a:rPr>
                        <a:t>Pass</a:t>
                      </a:r>
                    </a:p>
                  </a:txBody>
                  <a:tcPr marL="73152" marR="73152" marT="36576" marB="36576" anchor="ctr">
                    <a:solidFill>
                      <a:srgbClr val="E3F4F1"/>
                    </a:solidFill>
                  </a:tcPr>
                </a:tc>
              </a:tr>
              <a:tr h="429768">
                <a:tc>
                  <a:txBody>
                    <a:bodyPr wrap="square"/>
                    <a:lstStyle/>
                    <a:p>
                      <a:r>
                        <a:rPr sz="1300">
                          <a:solidFill>
                            <a:srgbClr val="232323"/>
                          </a:solidFill>
                          <a:latin typeface="Calibri"/>
                        </a:rPr>
                        <a:t>TC-24</a:t>
                      </a:r>
                    </a:p>
                  </a:txBody>
                  <a:tcPr marL="73152" marR="73152" marT="36576" marB="36576" anchor="ctr">
                    <a:solidFill>
                      <a:srgbClr val="EEF2F7"/>
                    </a:solidFill>
                  </a:tcPr>
                </a:tc>
                <a:tc>
                  <a:txBody>
                    <a:bodyPr wrap="square"/>
                    <a:lstStyle/>
                    <a:p>
                      <a:r>
                        <a:rPr sz="1300">
                          <a:solidFill>
                            <a:srgbClr val="232323"/>
                          </a:solidFill>
                          <a:latin typeface="Calibri"/>
                        </a:rPr>
                        <a:t>attendee on staff or organiser routes</a:t>
                      </a:r>
                    </a:p>
                  </a:txBody>
                  <a:tcPr marL="73152" marR="73152" marT="36576" marB="36576" anchor="ctr">
                    <a:solidFill>
                      <a:srgbClr val="EEF2F7"/>
                    </a:solidFill>
                  </a:tcPr>
                </a:tc>
                <a:tc>
                  <a:txBody>
                    <a:bodyPr wrap="square"/>
                    <a:lstStyle/>
                    <a:p>
                      <a:r>
                        <a:rPr sz="1300">
                          <a:solidFill>
                            <a:srgbClr val="232323"/>
                          </a:solidFill>
                          <a:latin typeface="Calibri"/>
                        </a:rPr>
                        <a:t>403</a:t>
                      </a:r>
                    </a:p>
                  </a:txBody>
                  <a:tcPr marL="73152" marR="73152" marT="36576" marB="36576" anchor="ctr">
                    <a:solidFill>
                      <a:srgbClr val="EEF2F7"/>
                    </a:solidFill>
                  </a:tcPr>
                </a:tc>
                <a:tc>
                  <a:txBody>
                    <a:bodyPr wrap="square"/>
                    <a:lstStyle/>
                    <a:p>
                      <a:r>
                        <a:rPr sz="1300">
                          <a:solidFill>
                            <a:srgbClr val="232323"/>
                          </a:solidFill>
                          <a:latin typeface="Calibri"/>
                        </a:rPr>
                        <a:t>403</a:t>
                      </a:r>
                    </a:p>
                  </a:txBody>
                  <a:tcPr marL="73152" marR="73152" marT="36576" marB="36576" anchor="ctr">
                    <a:solidFill>
                      <a:srgbClr val="EEF2F7"/>
                    </a:solidFill>
                  </a:tcPr>
                </a:tc>
                <a:tc>
                  <a:txBody>
                    <a:bodyPr wrap="square"/>
                    <a:lstStyle/>
                    <a:p>
                      <a:r>
                        <a:rPr sz="1300">
                          <a:solidFill>
                            <a:srgbClr val="232323"/>
                          </a:solidFill>
                          <a:latin typeface="Calibri"/>
                        </a:rPr>
                        <a:t>Pass</a:t>
                      </a:r>
                    </a:p>
                  </a:txBody>
                  <a:tcPr marL="73152" marR="73152" marT="36576" marB="36576" anchor="ctr">
                    <a:solidFill>
                      <a:srgbClr val="E3F4F1"/>
                    </a:solidFill>
                  </a:tcPr>
                </a:tc>
              </a:tr>
              <a:tr h="429768">
                <a:tc>
                  <a:txBody>
                    <a:bodyPr wrap="square"/>
                    <a:lstStyle/>
                    <a:p>
                      <a:r>
                        <a:rPr sz="1300">
                          <a:solidFill>
                            <a:srgbClr val="232323"/>
                          </a:solidFill>
                          <a:latin typeface="Calibri"/>
                        </a:rPr>
                        <a:t>TC-52</a:t>
                      </a:r>
                    </a:p>
                  </a:txBody>
                  <a:tcPr marL="73152" marR="73152" marT="36576" marB="36576" anchor="ctr">
                    <a:solidFill>
                      <a:srgbClr val="FFFFFF"/>
                    </a:solidFill>
                  </a:tcPr>
                </a:tc>
                <a:tc>
                  <a:txBody>
                    <a:bodyPr wrap="square"/>
                    <a:lstStyle/>
                    <a:p>
                      <a:r>
                        <a:rPr sz="1300">
                          <a:solidFill>
                            <a:srgbClr val="232323"/>
                          </a:solidFill>
                          <a:latin typeface="Calibri"/>
                        </a:rPr>
                        <a:t>attendee app shows the meal voucher</a:t>
                      </a:r>
                    </a:p>
                  </a:txBody>
                  <a:tcPr marL="73152" marR="73152" marT="36576" marB="36576" anchor="ctr">
                    <a:solidFill>
                      <a:srgbClr val="FFFFFF"/>
                    </a:solidFill>
                  </a:tcPr>
                </a:tc>
                <a:tc>
                  <a:txBody>
                    <a:bodyPr wrap="square"/>
                    <a:lstStyle/>
                    <a:p>
                      <a:r>
                        <a:rPr sz="1300">
                          <a:solidFill>
                            <a:srgbClr val="232323"/>
                          </a:solidFill>
                          <a:latin typeface="Calibri"/>
                        </a:rPr>
                        <a:t>QR of the voucher token</a:t>
                      </a:r>
                    </a:p>
                  </a:txBody>
                  <a:tcPr marL="73152" marR="73152" marT="36576" marB="36576" anchor="ctr">
                    <a:solidFill>
                      <a:srgbClr val="FFFFFF"/>
                    </a:solidFill>
                  </a:tcPr>
                </a:tc>
                <a:tc>
                  <a:txBody>
                    <a:bodyPr wrap="square"/>
                    <a:lstStyle/>
                    <a:p>
                      <a:r>
                        <a:rPr sz="1300">
                          <a:solidFill>
                            <a:srgbClr val="232323"/>
                          </a:solidFill>
                          <a:latin typeface="Calibri"/>
                        </a:rPr>
                        <a:t>decodes to MEAL-DEMO-1-3</a:t>
                      </a:r>
                    </a:p>
                  </a:txBody>
                  <a:tcPr marL="73152" marR="73152" marT="36576" marB="36576" anchor="ctr">
                    <a:solidFill>
                      <a:srgbClr val="FFFFFF"/>
                    </a:solidFill>
                  </a:tcPr>
                </a:tc>
                <a:tc>
                  <a:txBody>
                    <a:bodyPr wrap="square"/>
                    <a:lstStyle/>
                    <a:p>
                      <a:r>
                        <a:rPr sz="1300">
                          <a:solidFill>
                            <a:srgbClr val="232323"/>
                          </a:solidFill>
                          <a:latin typeface="Calibri"/>
                        </a:rPr>
                        <a:t>Pass</a:t>
                      </a:r>
                    </a:p>
                  </a:txBody>
                  <a:tcPr marL="73152" marR="73152" marT="36576" marB="36576" anchor="ctr">
                    <a:solidFill>
                      <a:srgbClr val="E3F4F1"/>
                    </a:solidFill>
                  </a:tcPr>
                </a:tc>
              </a:tr>
              <a:tr h="429768">
                <a:tc>
                  <a:txBody>
                    <a:bodyPr wrap="square"/>
                    <a:lstStyle/>
                    <a:p>
                      <a:r>
                        <a:rPr sz="1300">
                          <a:solidFill>
                            <a:srgbClr val="232323"/>
                          </a:solidFill>
                          <a:latin typeface="Calibri"/>
                        </a:rPr>
                        <a:t>TC-53/54</a:t>
                      </a:r>
                    </a:p>
                  </a:txBody>
                  <a:tcPr marL="73152" marR="73152" marT="36576" marB="36576" anchor="ctr">
                    <a:solidFill>
                      <a:srgbClr val="EEF2F7"/>
                    </a:solidFill>
                  </a:tcPr>
                </a:tc>
                <a:tc>
                  <a:txBody>
                    <a:bodyPr wrap="square"/>
                    <a:lstStyle/>
                    <a:p>
                      <a:r>
                        <a:rPr sz="1300">
                          <a:solidFill>
                            <a:srgbClr val="232323"/>
                          </a:solidFill>
                          <a:latin typeface="Calibri"/>
                        </a:rPr>
                        <a:t>device trial: first scan, then repeat</a:t>
                      </a:r>
                    </a:p>
                  </a:txBody>
                  <a:tcPr marL="73152" marR="73152" marT="36576" marB="36576" anchor="ctr">
                    <a:solidFill>
                      <a:srgbClr val="EEF2F7"/>
                    </a:solidFill>
                  </a:tcPr>
                </a:tc>
                <a:tc>
                  <a:txBody>
                    <a:bodyPr wrap="square"/>
                    <a:lstStyle/>
                    <a:p>
                      <a:r>
                        <a:rPr sz="1300">
                          <a:solidFill>
                            <a:srgbClr val="232323"/>
                          </a:solidFill>
                          <a:latin typeface="Calibri"/>
                        </a:rPr>
                        <a:t>200, then 409</a:t>
                      </a:r>
                    </a:p>
                  </a:txBody>
                  <a:tcPr marL="73152" marR="73152" marT="36576" marB="36576" anchor="ctr">
                    <a:solidFill>
                      <a:srgbClr val="EEF2F7"/>
                    </a:solidFill>
                  </a:tcPr>
                </a:tc>
                <a:tc>
                  <a:txBody>
                    <a:bodyPr wrap="square"/>
                    <a:lstStyle/>
                    <a:p>
                      <a:r>
                        <a:rPr sz="1300">
                          <a:solidFill>
                            <a:srgbClr val="232323"/>
                          </a:solidFill>
                          <a:latin typeface="Calibri"/>
                        </a:rPr>
                        <a:t>200, then 409 (x2)</a:t>
                      </a:r>
                    </a:p>
                  </a:txBody>
                  <a:tcPr marL="73152" marR="73152" marT="36576" marB="36576" anchor="ctr">
                    <a:solidFill>
                      <a:srgbClr val="EEF2F7"/>
                    </a:solidFill>
                  </a:tcPr>
                </a:tc>
                <a:tc>
                  <a:txBody>
                    <a:bodyPr wrap="square"/>
                    <a:lstStyle/>
                    <a:p>
                      <a:r>
                        <a:rPr sz="1300">
                          <a:solidFill>
                            <a:srgbClr val="232323"/>
                          </a:solidFill>
                          <a:latin typeface="Calibri"/>
                        </a:rPr>
                        <a:t>Pass</a:t>
                      </a:r>
                    </a:p>
                  </a:txBody>
                  <a:tcPr marL="73152" marR="73152" marT="36576" marB="36576" anchor="ctr">
                    <a:solidFill>
                      <a:srgbClr val="E3F4F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Results: Double Redemption Under Parallel Load</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14</a:t>
            </a:r>
            <a:endParaRPr dirty="0"/>
          </a:p>
        </p:txBody>
      </p:sp>
      <p:graphicFrame>
        <p:nvGraphicFramePr>
          <p:cNvPr id="6" name="Chart 5"/>
          <p:cNvGraphicFramePr>
            <a:graphicFrameLocks noGrp="1"/>
          </p:cNvGraphicFramePr>
          <p:nvPr/>
        </p:nvGraphicFramePr>
        <p:xfrm>
          <a:off x="822960" y="1143000"/>
          <a:ext cx="6583680" cy="4480560"/>
        </p:xfrm>
        <a:graphic>
          <a:graphicData uri="http://schemas.openxmlformats.org/drawingml/2006/chart">
            <c:chart xmlns:c="http://schemas.openxmlformats.org/drawingml/2006/chart" r:id="rId2"/>
          </a:graphicData>
        </a:graphic>
      </p:graphicFrame>
      <p:sp>
        <p:nvSpPr>
          <p:cNvPr id="7" name="Rounded Rectangle 6"/>
          <p:cNvSpPr/>
          <p:nvPr/>
        </p:nvSpPr>
        <p:spPr>
          <a:xfrm>
            <a:off x="7680960" y="1143000"/>
            <a:ext cx="3749039" cy="2148840"/>
          </a:xfrm>
          <a:prstGeom prst="roundRect">
            <a:avLst>
              <a:gd name="adj" fmla="val 8000"/>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280160"/>
            <a:ext cx="3383279" cy="411480"/>
          </a:xfrm>
          <a:prstGeom prst="rect">
            <a:avLst/>
          </a:prstGeom>
          <a:noFill/>
        </p:spPr>
        <p:txBody>
          <a:bodyPr wrap="square" lIns="45720" rIns="45720" tIns="27432" bIns="27432" anchor="t">
            <a:spAutoFit/>
          </a:bodyPr>
          <a:lstStyle/>
          <a:p>
            <a:pPr algn="l"/>
            <a:r>
              <a:rPr sz="1700" b="1" i="0">
                <a:solidFill>
                  <a:srgbClr val="0B7A6F"/>
                </a:solidFill>
                <a:latin typeface="Calibri"/>
              </a:rPr>
              <a:t>With either safeguard</a:t>
            </a:r>
          </a:p>
        </p:txBody>
      </p:sp>
      <p:sp>
        <p:nvSpPr>
          <p:cNvPr id="9" name="TextBox 8"/>
          <p:cNvSpPr txBox="1"/>
          <p:nvPr/>
        </p:nvSpPr>
        <p:spPr>
          <a:xfrm>
            <a:off x="7863840" y="1709928"/>
            <a:ext cx="3383279" cy="1463040"/>
          </a:xfrm>
          <a:prstGeom prst="rect">
            <a:avLst/>
          </a:prstGeom>
          <a:noFill/>
        </p:spPr>
        <p:txBody>
          <a:bodyPr wrap="square" lIns="45720" rIns="45720" tIns="27432" bIns="27432" anchor="t">
            <a:spAutoFit/>
          </a:bodyPr>
          <a:lstStyle/>
          <a:p>
            <a:pPr algn="l"/>
            <a:r>
              <a:rPr sz="1500" b="0" i="0">
                <a:solidFill>
                  <a:srgbClr val="232323"/>
                </a:solidFill>
                <a:latin typeface="Calibri"/>
              </a:rPr>
              <a:t>50 of 50 races gave exactly one redemption, and no response was a server error.</a:t>
            </a:r>
          </a:p>
        </p:txBody>
      </p:sp>
      <p:sp>
        <p:nvSpPr>
          <p:cNvPr id="10" name="Rounded Rectangle 9"/>
          <p:cNvSpPr/>
          <p:nvPr/>
        </p:nvSpPr>
        <p:spPr>
          <a:xfrm>
            <a:off x="7680960" y="3474720"/>
            <a:ext cx="3749039" cy="2148840"/>
          </a:xfrm>
          <a:prstGeom prst="roundRect">
            <a:avLst>
              <a:gd name="adj" fmla="val 8000"/>
            </a:avLst>
          </a:prstGeom>
          <a:solidFill>
            <a:srgbClr val="FBE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3611879"/>
            <a:ext cx="3383279" cy="411480"/>
          </a:xfrm>
          <a:prstGeom prst="rect">
            <a:avLst/>
          </a:prstGeom>
          <a:noFill/>
        </p:spPr>
        <p:txBody>
          <a:bodyPr wrap="square" lIns="45720" rIns="45720" tIns="27432" bIns="27432" anchor="t">
            <a:spAutoFit/>
          </a:bodyPr>
          <a:lstStyle/>
          <a:p>
            <a:pPr algn="l"/>
            <a:r>
              <a:rPr sz="1700" b="1" i="0">
                <a:solidFill>
                  <a:srgbClr val="B42318"/>
                </a:solidFill>
                <a:latin typeface="Calibri"/>
              </a:rPr>
              <a:t>With neither</a:t>
            </a:r>
          </a:p>
        </p:txBody>
      </p:sp>
      <p:sp>
        <p:nvSpPr>
          <p:cNvPr id="12" name="TextBox 11"/>
          <p:cNvSpPr txBox="1"/>
          <p:nvPr/>
        </p:nvSpPr>
        <p:spPr>
          <a:xfrm>
            <a:off x="7863840" y="4041648"/>
            <a:ext cx="3383279" cy="1463040"/>
          </a:xfrm>
          <a:prstGeom prst="rect">
            <a:avLst/>
          </a:prstGeom>
          <a:noFill/>
        </p:spPr>
        <p:txBody>
          <a:bodyPr wrap="square" lIns="45720" rIns="45720" tIns="27432" bIns="27432" anchor="t">
            <a:spAutoFit/>
          </a:bodyPr>
          <a:lstStyle/>
          <a:p>
            <a:pPr algn="l"/>
            <a:r>
              <a:rPr sz="1500" b="0" i="0">
                <a:solidFill>
                  <a:srgbClr val="232323"/>
                </a:solidFill>
                <a:latin typeface="Calibri"/>
              </a:rPr>
              <a:t>48 of 50 vouchers redeemed more than once, although the status check was there. The control fails, so the test can detect the race.</a:t>
            </a:r>
          </a:p>
        </p:txBody>
      </p:sp>
      <p:sp>
        <p:nvSpPr>
          <p:cNvPr id="13" name="TextBox 12"/>
          <p:cNvSpPr txBox="1"/>
          <p:nvPr/>
        </p:nvSpPr>
        <p:spPr>
          <a:xfrm>
            <a:off x="822960" y="5806440"/>
            <a:ext cx="10607040" cy="365760"/>
          </a:xfrm>
          <a:prstGeom prst="rect">
            <a:avLst/>
          </a:prstGeom>
          <a:noFill/>
        </p:spPr>
        <p:txBody>
          <a:bodyPr wrap="square" lIns="45720" rIns="45720" tIns="27432" bIns="27432" anchor="t">
            <a:spAutoFit/>
          </a:bodyPr>
          <a:lstStyle/>
          <a:p>
            <a:pPr algn="l"/>
            <a:r>
              <a:rPr sz="1100" b="0" i="0">
                <a:solidFill>
                  <a:srgbClr val="5A6370"/>
                </a:solidFill>
                <a:latin typeface="Calibri"/>
              </a:rPr>
              <a:t>PostgreSQL behind five PHP server processes, five simultaneous scans per race. Source: tools/concurrency-results.json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Evaluation Against the Proposal's Targets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15</a:t>
            </a:r>
            <a:endParaRPr dirty="0"/>
          </a:p>
        </p:txBody>
      </p:sp>
      <p:graphicFrame>
        <p:nvGraphicFramePr>
          <p:cNvPr id="6" name="Table 5"/>
          <p:cNvGraphicFramePr>
            <a:graphicFrameLocks noGrp="1"/>
          </p:cNvGraphicFramePr>
          <p:nvPr/>
        </p:nvGraphicFramePr>
        <p:xfrm>
          <a:off x="822960" y="1143000"/>
          <a:ext cx="10607040" cy="4389120"/>
        </p:xfrm>
        <a:graphic>
          <a:graphicData uri="http://schemas.openxmlformats.org/drawingml/2006/table">
            <a:tbl>
              <a:tblPr firstRow="1" bandRow="1">
                <a:tableStyleId>{5940675A-B579-460E-94D1-54222C63F5DA}</a:tableStyleId>
              </a:tblPr>
              <a:tblGrid>
                <a:gridCol w="2194560"/>
                <a:gridCol w="2194560"/>
                <a:gridCol w="4206240"/>
                <a:gridCol w="2011680"/>
              </a:tblGrid>
              <a:tr h="548640">
                <a:tc>
                  <a:txBody>
                    <a:bodyPr wrap="square"/>
                    <a:lstStyle/>
                    <a:p>
                      <a:r>
                        <a:rPr sz="1300" b="1">
                          <a:solidFill>
                            <a:srgbClr val="FFFFFF"/>
                          </a:solidFill>
                          <a:latin typeface="Calibri"/>
                        </a:rPr>
                        <a:t>Criterion</a:t>
                      </a:r>
                    </a:p>
                  </a:txBody>
                  <a:tcPr marL="73152" marR="73152" marT="36576" marB="36576" anchor="ctr">
                    <a:solidFill>
                      <a:srgbClr val="192D4B"/>
                    </a:solidFill>
                  </a:tcPr>
                </a:tc>
                <a:tc>
                  <a:txBody>
                    <a:bodyPr wrap="square"/>
                    <a:lstStyle/>
                    <a:p>
                      <a:r>
                        <a:rPr sz="1300" b="1">
                          <a:solidFill>
                            <a:srgbClr val="FFFFFF"/>
                          </a:solidFill>
                          <a:latin typeface="Calibri"/>
                        </a:rPr>
                        <a:t>Target</a:t>
                      </a:r>
                    </a:p>
                  </a:txBody>
                  <a:tcPr marL="73152" marR="73152" marT="36576" marB="36576" anchor="ctr">
                    <a:solidFill>
                      <a:srgbClr val="192D4B"/>
                    </a:solidFill>
                  </a:tcPr>
                </a:tc>
                <a:tc>
                  <a:txBody>
                    <a:bodyPr wrap="square"/>
                    <a:lstStyle/>
                    <a:p>
                      <a:r>
                        <a:rPr sz="1300" b="1">
                          <a:solidFill>
                            <a:srgbClr val="FFFFFF"/>
                          </a:solidFill>
                          <a:latin typeface="Calibri"/>
                        </a:rPr>
                        <a:t>Result</a:t>
                      </a:r>
                    </a:p>
                  </a:txBody>
                  <a:tcPr marL="73152" marR="73152" marT="36576" marB="36576" anchor="ctr">
                    <a:solidFill>
                      <a:srgbClr val="192D4B"/>
                    </a:solidFill>
                  </a:tcPr>
                </a:tc>
                <a:tc>
                  <a:txBody>
                    <a:bodyPr wrap="square"/>
                    <a:lstStyle/>
                    <a:p>
                      <a:r>
                        <a:rPr sz="1300" b="1">
                          <a:solidFill>
                            <a:srgbClr val="FFFFFF"/>
                          </a:solidFill>
                          <a:latin typeface="Calibri"/>
                        </a:rPr>
                        <a:t>Status</a:t>
                      </a:r>
                    </a:p>
                  </a:txBody>
                  <a:tcPr marL="73152" marR="73152" marT="36576" marB="36576" anchor="ctr">
                    <a:solidFill>
                      <a:srgbClr val="192D4B"/>
                    </a:solidFill>
                  </a:tcPr>
                </a:tc>
              </a:tr>
              <a:tr h="548640">
                <a:tc>
                  <a:txBody>
                    <a:bodyPr wrap="square"/>
                    <a:lstStyle/>
                    <a:p>
                      <a:r>
                        <a:rPr sz="1300">
                          <a:solidFill>
                            <a:srgbClr val="232323"/>
                          </a:solidFill>
                          <a:latin typeface="Calibri"/>
                        </a:rPr>
                        <a:t>Duplicate redemption</a:t>
                      </a:r>
                    </a:p>
                  </a:txBody>
                  <a:tcPr marL="73152" marR="73152" marT="36576" marB="36576" anchor="ctr">
                    <a:solidFill>
                      <a:srgbClr val="FFFFFF"/>
                    </a:solidFill>
                  </a:tcPr>
                </a:tc>
                <a:tc>
                  <a:txBody>
                    <a:bodyPr wrap="square"/>
                    <a:lstStyle/>
                    <a:p>
                      <a:r>
                        <a:rPr sz="1300">
                          <a:solidFill>
                            <a:srgbClr val="232323"/>
                          </a:solidFill>
                          <a:latin typeface="Calibri"/>
                        </a:rPr>
                        <a:t>100% refused</a:t>
                      </a:r>
                    </a:p>
                  </a:txBody>
                  <a:tcPr marL="73152" marR="73152" marT="36576" marB="36576" anchor="ctr">
                    <a:solidFill>
                      <a:srgbClr val="FFFFFF"/>
                    </a:solidFill>
                  </a:tcPr>
                </a:tc>
                <a:tc>
                  <a:txBody>
                    <a:bodyPr wrap="square"/>
                    <a:lstStyle/>
                    <a:p>
                      <a:r>
                        <a:rPr sz="1300">
                          <a:solidFill>
                            <a:srgbClr val="232323"/>
                          </a:solidFill>
                          <a:latin typeface="Calibri"/>
                        </a:rPr>
                        <a:t>100/100 sequential; 50/50 races with a safeguard</a:t>
                      </a:r>
                    </a:p>
                  </a:txBody>
                  <a:tcPr marL="73152" marR="73152" marT="36576" marB="36576" anchor="ctr">
                    <a:solidFill>
                      <a:srgbClr val="FFFFFF"/>
                    </a:solidFill>
                  </a:tcPr>
                </a:tc>
                <a:tc>
                  <a:txBody>
                    <a:bodyPr wrap="square"/>
                    <a:lstStyle/>
                    <a:p>
                      <a:r>
                        <a:rPr sz="1300">
                          <a:solidFill>
                            <a:srgbClr val="232323"/>
                          </a:solidFill>
                          <a:latin typeface="Calibri"/>
                        </a:rPr>
                        <a:t>Met</a:t>
                      </a:r>
                    </a:p>
                  </a:txBody>
                  <a:tcPr marL="73152" marR="73152" marT="36576" marB="36576" anchor="ctr">
                    <a:solidFill>
                      <a:srgbClr val="E3F4F1"/>
                    </a:solidFill>
                  </a:tcPr>
                </a:tc>
              </a:tr>
              <a:tr h="548640">
                <a:tc>
                  <a:txBody>
                    <a:bodyPr wrap="square"/>
                    <a:lstStyle/>
                    <a:p>
                      <a:r>
                        <a:rPr sz="1300">
                          <a:solidFill>
                            <a:srgbClr val="232323"/>
                          </a:solidFill>
                          <a:latin typeface="Calibri"/>
                        </a:rPr>
                        <a:t>Scan latency</a:t>
                      </a:r>
                    </a:p>
                  </a:txBody>
                  <a:tcPr marL="73152" marR="73152" marT="36576" marB="36576" anchor="ctr">
                    <a:solidFill>
                      <a:srgbClr val="EEF2F7"/>
                    </a:solidFill>
                  </a:tcPr>
                </a:tc>
                <a:tc>
                  <a:txBody>
                    <a:bodyPr wrap="square"/>
                    <a:lstStyle/>
                    <a:p>
                      <a:r>
                        <a:rPr sz="1300">
                          <a:solidFill>
                            <a:srgbClr val="232323"/>
                          </a:solidFill>
                          <a:latin typeface="Calibri"/>
                        </a:rPr>
                        <a:t>median &lt; 500 ms, p95 &lt; 1 s</a:t>
                      </a:r>
                    </a:p>
                  </a:txBody>
                  <a:tcPr marL="73152" marR="73152" marT="36576" marB="36576" anchor="ctr">
                    <a:solidFill>
                      <a:srgbClr val="EEF2F7"/>
                    </a:solidFill>
                  </a:tcPr>
                </a:tc>
                <a:tc>
                  <a:txBody>
                    <a:bodyPr wrap="square"/>
                    <a:lstStyle/>
                    <a:p>
                      <a:r>
                        <a:rPr sz="1300">
                          <a:solidFill>
                            <a:srgbClr val="232323"/>
                          </a:solidFill>
                          <a:latin typeface="Calibri"/>
                        </a:rPr>
                        <a:t>145.3 ms / 261.0 ms over loopback</a:t>
                      </a:r>
                    </a:p>
                  </a:txBody>
                  <a:tcPr marL="73152" marR="73152" marT="36576" marB="36576" anchor="ctr">
                    <a:solidFill>
                      <a:srgbClr val="EEF2F7"/>
                    </a:solidFill>
                  </a:tcPr>
                </a:tc>
                <a:tc>
                  <a:txBody>
                    <a:bodyPr wrap="square"/>
                    <a:lstStyle/>
                    <a:p>
                      <a:r>
                        <a:rPr sz="1300">
                          <a:solidFill>
                            <a:srgbClr val="232323"/>
                          </a:solidFill>
                          <a:latin typeface="Calibri"/>
                        </a:rPr>
                        <a:t>Met on loopback</a:t>
                      </a:r>
                    </a:p>
                  </a:txBody>
                  <a:tcPr marL="73152" marR="73152" marT="36576" marB="36576" anchor="ctr">
                    <a:solidFill>
                      <a:srgbClr val="E3F4F1"/>
                    </a:solidFill>
                  </a:tcPr>
                </a:tc>
              </a:tr>
              <a:tr h="548640">
                <a:tc>
                  <a:txBody>
                    <a:bodyPr wrap="square"/>
                    <a:lstStyle/>
                    <a:p>
                      <a:r>
                        <a:rPr sz="1300">
                          <a:solidFill>
                            <a:srgbClr val="232323"/>
                          </a:solidFill>
                          <a:latin typeface="Calibri"/>
                        </a:rPr>
                        <a:t>Dashboard freshness</a:t>
                      </a:r>
                    </a:p>
                  </a:txBody>
                  <a:tcPr marL="73152" marR="73152" marT="36576" marB="36576" anchor="ctr">
                    <a:solidFill>
                      <a:srgbClr val="FFFFFF"/>
                    </a:solidFill>
                  </a:tcPr>
                </a:tc>
                <a:tc>
                  <a:txBody>
                    <a:bodyPr wrap="square"/>
                    <a:lstStyle/>
                    <a:p>
                      <a:r>
                        <a:rPr sz="1300">
                          <a:solidFill>
                            <a:srgbClr val="232323"/>
                          </a:solidFill>
                          <a:latin typeface="Calibri"/>
                        </a:rPr>
                        <a:t>≤ 30 s</a:t>
                      </a:r>
                    </a:p>
                  </a:txBody>
                  <a:tcPr marL="73152" marR="73152" marT="36576" marB="36576" anchor="ctr">
                    <a:solidFill>
                      <a:srgbClr val="FFFFFF"/>
                    </a:solidFill>
                  </a:tcPr>
                </a:tc>
                <a:tc>
                  <a:txBody>
                    <a:bodyPr wrap="square"/>
                    <a:lstStyle/>
                    <a:p>
                      <a:r>
                        <a:rPr sz="1300">
                          <a:solidFill>
                            <a:srgbClr val="232323"/>
                          </a:solidFill>
                          <a:latin typeface="Calibri"/>
                        </a:rPr>
                        <a:t>20/20 in the recorded run (poller, not the app); a rerun gave 19/20</a:t>
                      </a:r>
                    </a:p>
                  </a:txBody>
                  <a:tcPr marL="73152" marR="73152" marT="36576" marB="36576" anchor="ctr">
                    <a:solidFill>
                      <a:srgbClr val="FFFFFF"/>
                    </a:solidFill>
                  </a:tcPr>
                </a:tc>
                <a:tc>
                  <a:txBody>
                    <a:bodyPr wrap="square"/>
                    <a:lstStyle/>
                    <a:p>
                      <a:r>
                        <a:rPr sz="1300">
                          <a:solidFill>
                            <a:srgbClr val="232323"/>
                          </a:solidFill>
                          <a:latin typeface="Calibri"/>
                        </a:rPr>
                        <a:t>Not guaranteed by design</a:t>
                      </a:r>
                    </a:p>
                  </a:txBody>
                  <a:tcPr marL="73152" marR="73152" marT="36576" marB="36576" anchor="ctr">
                    <a:solidFill>
                      <a:srgbClr val="FBE9E7"/>
                    </a:solidFill>
                  </a:tcPr>
                </a:tc>
              </a:tr>
              <a:tr h="548640">
                <a:tc>
                  <a:txBody>
                    <a:bodyPr wrap="square"/>
                    <a:lstStyle/>
                    <a:p>
                      <a:r>
                        <a:rPr sz="1300">
                          <a:solidFill>
                            <a:srgbClr val="232323"/>
                          </a:solidFill>
                          <a:latin typeface="Calibri"/>
                        </a:rPr>
                        <a:t>Export correctness</a:t>
                      </a:r>
                    </a:p>
                  </a:txBody>
                  <a:tcPr marL="73152" marR="73152" marT="36576" marB="36576" anchor="ctr">
                    <a:solidFill>
                      <a:srgbClr val="EEF2F7"/>
                    </a:solidFill>
                  </a:tcPr>
                </a:tc>
                <a:tc>
                  <a:txBody>
                    <a:bodyPr wrap="square"/>
                    <a:lstStyle/>
                    <a:p>
                      <a:r>
                        <a:rPr sz="1300">
                          <a:solidFill>
                            <a:srgbClr val="232323"/>
                          </a:solidFill>
                          <a:latin typeface="Calibri"/>
                        </a:rPr>
                        <a:t>equal to the database</a:t>
                      </a:r>
                    </a:p>
                  </a:txBody>
                  <a:tcPr marL="73152" marR="73152" marT="36576" marB="36576" anchor="ctr">
                    <a:solidFill>
                      <a:srgbClr val="EEF2F7"/>
                    </a:solidFill>
                  </a:tcPr>
                </a:tc>
                <a:tc>
                  <a:txBody>
                    <a:bodyPr wrap="square"/>
                    <a:lstStyle/>
                    <a:p>
                      <a:r>
                        <a:rPr sz="1300">
                          <a:solidFill>
                            <a:srgbClr val="232323"/>
                          </a:solidFill>
                          <a:latin typeface="Calibri"/>
                        </a:rPr>
                        <a:t>all four equal to SQL; notifications.csv was 0 vs 0</a:t>
                      </a:r>
                    </a:p>
                  </a:txBody>
                  <a:tcPr marL="73152" marR="73152" marT="36576" marB="36576" anchor="ctr">
                    <a:solidFill>
                      <a:srgbClr val="EEF2F7"/>
                    </a:solidFill>
                  </a:tcPr>
                </a:tc>
                <a:tc>
                  <a:txBody>
                    <a:bodyPr wrap="square"/>
                    <a:lstStyle/>
                    <a:p>
                      <a:r>
                        <a:rPr sz="1300">
                          <a:solidFill>
                            <a:srgbClr val="232323"/>
                          </a:solidFill>
                          <a:latin typeface="Calibri"/>
                        </a:rPr>
                        <a:t>Met, with limits</a:t>
                      </a:r>
                    </a:p>
                  </a:txBody>
                  <a:tcPr marL="73152" marR="73152" marT="36576" marB="36576" anchor="ctr">
                    <a:solidFill>
                      <a:srgbClr val="E3F4F1"/>
                    </a:solidFill>
                  </a:tcPr>
                </a:tc>
              </a:tr>
              <a:tr h="548640">
                <a:tc>
                  <a:txBody>
                    <a:bodyPr wrap="square"/>
                    <a:lstStyle/>
                    <a:p>
                      <a:r>
                        <a:rPr sz="1300">
                          <a:solidFill>
                            <a:srgbClr val="232323"/>
                          </a:solidFill>
                          <a:latin typeface="Calibri"/>
                        </a:rPr>
                        <a:t>Capacity warning</a:t>
                      </a:r>
                    </a:p>
                  </a:txBody>
                  <a:tcPr marL="73152" marR="73152" marT="36576" marB="36576" anchor="ctr">
                    <a:solidFill>
                      <a:srgbClr val="FFFFFF"/>
                    </a:solidFill>
                  </a:tcPr>
                </a:tc>
                <a:tc>
                  <a:txBody>
                    <a:bodyPr wrap="square"/>
                    <a:lstStyle/>
                    <a:p>
                      <a:r>
                        <a:rPr sz="1300">
                          <a:solidFill>
                            <a:srgbClr val="232323"/>
                          </a:solidFill>
                          <a:latin typeface="Calibri"/>
                        </a:rPr>
                        <a:t>before the room is full</a:t>
                      </a:r>
                    </a:p>
                  </a:txBody>
                  <a:tcPr marL="73152" marR="73152" marT="36576" marB="36576" anchor="ctr">
                    <a:solidFill>
                      <a:srgbClr val="FFFFFF"/>
                    </a:solidFill>
                  </a:tcPr>
                </a:tc>
                <a:tc>
                  <a:txBody>
                    <a:bodyPr wrap="square"/>
                    <a:lstStyle/>
                    <a:p>
                      <a:r>
                        <a:rPr sz="1300">
                          <a:solidFill>
                            <a:srgbClr val="232323"/>
                          </a:solidFill>
                          <a:latin typeface="Calibri"/>
                        </a:rPr>
                        <a:t>two tests, one emulator observation, not timed</a:t>
                      </a:r>
                    </a:p>
                  </a:txBody>
                  <a:tcPr marL="73152" marR="73152" marT="36576" marB="36576" anchor="ctr">
                    <a:solidFill>
                      <a:srgbClr val="FFFFFF"/>
                    </a:solidFill>
                  </a:tcPr>
                </a:tc>
                <a:tc>
                  <a:txBody>
                    <a:bodyPr wrap="square"/>
                    <a:lstStyle/>
                    <a:p>
                      <a:r>
                        <a:rPr sz="1300">
                          <a:solidFill>
                            <a:srgbClr val="232323"/>
                          </a:solidFill>
                          <a:latin typeface="Calibri"/>
                        </a:rPr>
                        <a:t>Partly met</a:t>
                      </a:r>
                    </a:p>
                  </a:txBody>
                  <a:tcPr marL="73152" marR="73152" marT="36576" marB="36576" anchor="ctr">
                    <a:solidFill>
                      <a:srgbClr val="FDF1E0"/>
                    </a:solidFill>
                  </a:tcPr>
                </a:tc>
              </a:tr>
              <a:tr h="548640">
                <a:tc>
                  <a:txBody>
                    <a:bodyPr wrap="square"/>
                    <a:lstStyle/>
                    <a:p>
                      <a:r>
                        <a:rPr sz="1300">
                          <a:solidFill>
                            <a:srgbClr val="232323"/>
                          </a:solidFill>
                          <a:latin typeface="Calibri"/>
                        </a:rPr>
                        <a:t>Push delivery</a:t>
                      </a:r>
                    </a:p>
                  </a:txBody>
                  <a:tcPr marL="73152" marR="73152" marT="36576" marB="36576" anchor="ctr">
                    <a:solidFill>
                      <a:srgbClr val="EEF2F7"/>
                    </a:solidFill>
                  </a:tcPr>
                </a:tc>
                <a:tc>
                  <a:txBody>
                    <a:bodyPr wrap="square"/>
                    <a:lstStyle/>
                    <a:p>
                      <a:r>
                        <a:rPr sz="1300">
                          <a:solidFill>
                            <a:srgbClr val="232323"/>
                          </a:solidFill>
                          <a:latin typeface="Calibri"/>
                        </a:rPr>
                        <a:t>≥ 95% within 30 s</a:t>
                      </a:r>
                    </a:p>
                  </a:txBody>
                  <a:tcPr marL="73152" marR="73152" marT="36576" marB="36576" anchor="ctr">
                    <a:solidFill>
                      <a:srgbClr val="EEF2F7"/>
                    </a:solidFill>
                  </a:tcPr>
                </a:tc>
                <a:tc>
                  <a:txBody>
                    <a:bodyPr wrap="square"/>
                    <a:lstStyle/>
                    <a:p>
                      <a:r>
                        <a:rPr sz="1300">
                          <a:solidFill>
                            <a:srgbClr val="232323"/>
                          </a:solidFill>
                          <a:latin typeface="Calibri"/>
                        </a:rPr>
                        <a:t>one device, about 5 s</a:t>
                      </a:r>
                    </a:p>
                  </a:txBody>
                  <a:tcPr marL="73152" marR="73152" marT="36576" marB="36576" anchor="ctr">
                    <a:solidFill>
                      <a:srgbClr val="EEF2F7"/>
                    </a:solidFill>
                  </a:tcPr>
                </a:tc>
                <a:tc>
                  <a:txBody>
                    <a:bodyPr wrap="square"/>
                    <a:lstStyle/>
                    <a:p>
                      <a:r>
                        <a:rPr sz="1300">
                          <a:solidFill>
                            <a:srgbClr val="232323"/>
                          </a:solidFill>
                          <a:latin typeface="Calibri"/>
                        </a:rPr>
                        <a:t>Not measured</a:t>
                      </a:r>
                    </a:p>
                  </a:txBody>
                  <a:tcPr marL="73152" marR="73152" marT="36576" marB="36576" anchor="ctr">
                    <a:solidFill>
                      <a:srgbClr val="FBE9E7"/>
                    </a:solidFill>
                  </a:tcPr>
                </a:tc>
              </a:tr>
              <a:tr h="548640">
                <a:tc>
                  <a:txBody>
                    <a:bodyPr wrap="square"/>
                    <a:lstStyle/>
                    <a:p>
                      <a:r>
                        <a:rPr sz="1300">
                          <a:solidFill>
                            <a:srgbClr val="232323"/>
                          </a:solidFill>
                          <a:latin typeface="Calibri"/>
                        </a:rPr>
                        <a:t>Manual baseline</a:t>
                      </a:r>
                    </a:p>
                  </a:txBody>
                  <a:tcPr marL="73152" marR="73152" marT="36576" marB="36576" anchor="ctr">
                    <a:solidFill>
                      <a:srgbClr val="FFFFFF"/>
                    </a:solidFill>
                  </a:tcPr>
                </a:tc>
                <a:tc>
                  <a:txBody>
                    <a:bodyPr wrap="square"/>
                    <a:lstStyle/>
                    <a:p>
                      <a:r>
                        <a:rPr sz="1300">
                          <a:solidFill>
                            <a:srgbClr val="232323"/>
                          </a:solidFill>
                          <a:latin typeface="Calibri"/>
                        </a:rPr>
                        <a:t>compared with a paper line</a:t>
                      </a:r>
                    </a:p>
                  </a:txBody>
                  <a:tcPr marL="73152" marR="73152" marT="36576" marB="36576" anchor="ctr">
                    <a:solidFill>
                      <a:srgbClr val="FFFFFF"/>
                    </a:solidFill>
                  </a:tcPr>
                </a:tc>
                <a:tc>
                  <a:txBody>
                    <a:bodyPr wrap="square"/>
                    <a:lstStyle/>
                    <a:p>
                      <a:r>
                        <a:rPr sz="1300">
                          <a:solidFill>
                            <a:srgbClr val="232323"/>
                          </a:solidFill>
                          <a:latin typeface="Calibri"/>
                        </a:rPr>
                        <a:t>not run</a:t>
                      </a:r>
                    </a:p>
                  </a:txBody>
                  <a:tcPr marL="73152" marR="73152" marT="36576" marB="36576" anchor="ctr">
                    <a:solidFill>
                      <a:srgbClr val="FFFFFF"/>
                    </a:solidFill>
                  </a:tcPr>
                </a:tc>
                <a:tc>
                  <a:txBody>
                    <a:bodyPr wrap="square"/>
                    <a:lstStyle/>
                    <a:p>
                      <a:r>
                        <a:rPr sz="1300">
                          <a:solidFill>
                            <a:srgbClr val="232323"/>
                          </a:solidFill>
                          <a:latin typeface="Calibri"/>
                        </a:rPr>
                        <a:t>Not run</a:t>
                      </a:r>
                    </a:p>
                  </a:txBody>
                  <a:tcPr marL="73152" marR="73152" marT="36576" marB="36576" anchor="ctr">
                    <a:solidFill>
                      <a:srgbClr val="FBE9E7"/>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Discussion of Findings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16</a:t>
            </a:r>
            <a:endParaRPr dirty="0"/>
          </a:p>
        </p:txBody>
      </p:sp>
      <p:sp>
        <p:nvSpPr>
          <p:cNvPr id="6" name="Rounded Rectangle 5"/>
          <p:cNvSpPr/>
          <p:nvPr/>
        </p:nvSpPr>
        <p:spPr>
          <a:xfrm>
            <a:off x="822960" y="1188720"/>
            <a:ext cx="10607040" cy="137160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325880"/>
            <a:ext cx="10241280" cy="411480"/>
          </a:xfrm>
          <a:prstGeom prst="rect">
            <a:avLst/>
          </a:prstGeom>
          <a:noFill/>
        </p:spPr>
        <p:txBody>
          <a:bodyPr wrap="square" lIns="45720" rIns="45720" tIns="27432" bIns="27432" anchor="t">
            <a:spAutoFit/>
          </a:bodyPr>
          <a:lstStyle/>
          <a:p>
            <a:pPr algn="l"/>
            <a:r>
              <a:rPr sz="1700" b="1" i="0">
                <a:solidFill>
                  <a:srgbClr val="FFFFFF"/>
                </a:solidFill>
                <a:latin typeface="Calibri"/>
              </a:rPr>
              <a:t>Most important finding</a:t>
            </a:r>
          </a:p>
        </p:txBody>
      </p:sp>
      <p:sp>
        <p:nvSpPr>
          <p:cNvPr id="8" name="TextBox 7"/>
          <p:cNvSpPr txBox="1"/>
          <p:nvPr/>
        </p:nvSpPr>
        <p:spPr>
          <a:xfrm>
            <a:off x="1005840" y="1755648"/>
            <a:ext cx="10241280" cy="685800"/>
          </a:xfrm>
          <a:prstGeom prst="rect">
            <a:avLst/>
          </a:prstGeom>
          <a:noFill/>
        </p:spPr>
        <p:txBody>
          <a:bodyPr wrap="square" lIns="45720" rIns="45720" tIns="27432" bIns="27432" anchor="t">
            <a:spAutoFit/>
          </a:bodyPr>
          <a:lstStyle/>
          <a:p>
            <a:pPr algn="l"/>
            <a:r>
              <a:rPr sz="1700" b="0" i="0">
                <a:solidFill>
                  <a:srgbClr val="FFFFFF"/>
                </a:solidFill>
                <a:latin typeface="Calibri"/>
              </a:rPr>
              <a:t>A database lock or a unique constraint is what stops double redemption under parallel load. An application check alone does not, even when it is present.</a:t>
            </a:r>
          </a:p>
        </p:txBody>
      </p:sp>
      <p:sp>
        <p:nvSpPr>
          <p:cNvPr id="9" name="Rounded Rectangle 8"/>
          <p:cNvSpPr/>
          <p:nvPr/>
        </p:nvSpPr>
        <p:spPr>
          <a:xfrm>
            <a:off x="822960" y="2788920"/>
            <a:ext cx="5166360" cy="21945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926079"/>
            <a:ext cx="4800600" cy="411480"/>
          </a:xfrm>
          <a:prstGeom prst="rect">
            <a:avLst/>
          </a:prstGeom>
          <a:noFill/>
        </p:spPr>
        <p:txBody>
          <a:bodyPr wrap="square" lIns="45720" rIns="45720" tIns="27432" bIns="27432" anchor="t">
            <a:spAutoFit/>
          </a:bodyPr>
          <a:lstStyle/>
          <a:p>
            <a:pPr algn="l"/>
            <a:r>
              <a:rPr sz="1700" b="1" i="0">
                <a:solidFill>
                  <a:srgbClr val="192D4B"/>
                </a:solidFill>
                <a:latin typeface="Calibri"/>
              </a:rPr>
              <a:t>Against the problem and objectives</a:t>
            </a:r>
          </a:p>
        </p:txBody>
      </p:sp>
      <p:sp>
        <p:nvSpPr>
          <p:cNvPr id="11" name="TextBox 10"/>
          <p:cNvSpPr txBox="1"/>
          <p:nvPr/>
        </p:nvSpPr>
        <p:spPr>
          <a:xfrm>
            <a:off x="1005840" y="3355848"/>
            <a:ext cx="4800600" cy="1508760"/>
          </a:xfrm>
          <a:prstGeom prst="rect">
            <a:avLst/>
          </a:prstGeom>
          <a:noFill/>
        </p:spPr>
        <p:txBody>
          <a:bodyPr wrap="square" lIns="45720" rIns="45720" tIns="27432" bIns="27432" anchor="t">
            <a:spAutoFit/>
          </a:bodyPr>
          <a:lstStyle/>
          <a:p>
            <a:pPr algn="l"/>
            <a:r>
              <a:rPr sz="1500" b="0" i="0">
                <a:solidFill>
                  <a:srgbClr val="232323"/>
                </a:solidFill>
                <a:latin typeface="Calibri"/>
              </a:rPr>
              <a:t>Single use now holds at the serving point and in the app (one emulator trial). Organisers get live figures and overcrowding alerts. Scan latency leaves about 355 ms of the 500 ms target for venue Wi-Fi.</a:t>
            </a:r>
          </a:p>
        </p:txBody>
      </p:sp>
      <p:sp>
        <p:nvSpPr>
          <p:cNvPr id="12" name="Rounded Rectangle 11"/>
          <p:cNvSpPr/>
          <p:nvPr/>
        </p:nvSpPr>
        <p:spPr>
          <a:xfrm>
            <a:off x="6263640" y="2788920"/>
            <a:ext cx="5166360" cy="21945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926079"/>
            <a:ext cx="4800600" cy="411480"/>
          </a:xfrm>
          <a:prstGeom prst="rect">
            <a:avLst/>
          </a:prstGeom>
          <a:noFill/>
        </p:spPr>
        <p:txBody>
          <a:bodyPr wrap="square" lIns="45720" rIns="45720" tIns="27432" bIns="27432" anchor="t">
            <a:spAutoFit/>
          </a:bodyPr>
          <a:lstStyle/>
          <a:p>
            <a:pPr algn="l"/>
            <a:r>
              <a:rPr sz="1700" b="1" i="0">
                <a:solidFill>
                  <a:srgbClr val="192D4B"/>
                </a:solidFill>
                <a:latin typeface="Calibri"/>
              </a:rPr>
              <a:t>Against existing work</a:t>
            </a:r>
          </a:p>
        </p:txBody>
      </p:sp>
      <p:sp>
        <p:nvSpPr>
          <p:cNvPr id="14" name="TextBox 13"/>
          <p:cNvSpPr txBox="1"/>
          <p:nvPr/>
        </p:nvSpPr>
        <p:spPr>
          <a:xfrm>
            <a:off x="6446520" y="3355848"/>
            <a:ext cx="4800600" cy="1508760"/>
          </a:xfrm>
          <a:prstGeom prst="rect">
            <a:avLst/>
          </a:prstGeom>
          <a:noFill/>
        </p:spPr>
        <p:txBody>
          <a:bodyPr wrap="square" lIns="45720" rIns="45720" tIns="27432" bIns="27432" anchor="t">
            <a:spAutoFit/>
          </a:bodyPr>
          <a:lstStyle/>
          <a:p>
            <a:pPr algn="l"/>
            <a:r>
              <a:rPr sz="1500" b="0" i="0">
                <a:solidFill>
                  <a:srgbClr val="232323"/>
                </a:solidFill>
                <a:latin typeface="Calibri"/>
              </a:rPr>
              <a:t>Masalha and Hirzallah [3] propose a QR attendance system as a design, with no measured comparison. There is no published figure to set these results beside; this work measures under parallel load with a control.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Limitations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17</a:t>
            </a:r>
          </a:p>
        </p:txBody>
      </p:sp>
      <p:sp>
        <p:nvSpPr>
          <p:cNvPr id="6" name="Rounded Rectangle 5"/>
          <p:cNvSpPr/>
          <p:nvPr/>
        </p:nvSpPr>
        <p:spPr>
          <a:xfrm>
            <a:off x="822960" y="1188720"/>
            <a:ext cx="5166360" cy="128016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325880"/>
            <a:ext cx="4800600" cy="411480"/>
          </a:xfrm>
          <a:prstGeom prst="rect">
            <a:avLst/>
          </a:prstGeom>
          <a:noFill/>
        </p:spPr>
        <p:txBody>
          <a:bodyPr wrap="square" lIns="45720" rIns="45720" tIns="27432" bIns="27432" anchor="t">
            <a:spAutoFit/>
          </a:bodyPr>
          <a:lstStyle/>
          <a:p>
            <a:pPr algn="l"/>
            <a:r>
              <a:rPr sz="1700" b="1" i="0">
                <a:solidFill>
                  <a:srgbClr val="B45F06"/>
                </a:solidFill>
                <a:latin typeface="Calibri"/>
              </a:rPr>
              <a:t>Simulated, not live</a:t>
            </a:r>
          </a:p>
        </p:txBody>
      </p:sp>
      <p:sp>
        <p:nvSpPr>
          <p:cNvPr id="8" name="TextBox 7"/>
          <p:cNvSpPr txBox="1"/>
          <p:nvPr/>
        </p:nvSpPr>
        <p:spPr>
          <a:xfrm>
            <a:off x="1005840" y="1755648"/>
            <a:ext cx="4800600" cy="594359"/>
          </a:xfrm>
          <a:prstGeom prst="rect">
            <a:avLst/>
          </a:prstGeom>
          <a:noFill/>
        </p:spPr>
        <p:txBody>
          <a:bodyPr wrap="square" lIns="45720" rIns="45720" tIns="27432" bIns="27432" anchor="t">
            <a:spAutoFit/>
          </a:bodyPr>
          <a:lstStyle/>
          <a:p>
            <a:pPr algn="l"/>
            <a:r>
              <a:rPr sz="1500" b="0" i="0">
                <a:solidFill>
                  <a:srgbClr val="232323"/>
                </a:solidFill>
                <a:latin typeface="Calibri"/>
              </a:rPr>
              <a:t>seeded 500-attendee event, scripted scans, one emulator</a:t>
            </a:r>
          </a:p>
        </p:txBody>
      </p:sp>
      <p:sp>
        <p:nvSpPr>
          <p:cNvPr id="9" name="Rounded Rectangle 8"/>
          <p:cNvSpPr/>
          <p:nvPr/>
        </p:nvSpPr>
        <p:spPr>
          <a:xfrm>
            <a:off x="6217920" y="1188720"/>
            <a:ext cx="5166360" cy="128016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25880"/>
            <a:ext cx="4800600" cy="411480"/>
          </a:xfrm>
          <a:prstGeom prst="rect">
            <a:avLst/>
          </a:prstGeom>
          <a:noFill/>
        </p:spPr>
        <p:txBody>
          <a:bodyPr wrap="square" lIns="45720" rIns="45720" tIns="27432" bIns="27432" anchor="t">
            <a:spAutoFit/>
          </a:bodyPr>
          <a:lstStyle/>
          <a:p>
            <a:pPr algn="l"/>
            <a:r>
              <a:rPr sz="1700" b="1" i="0">
                <a:solidFill>
                  <a:srgbClr val="B45F06"/>
                </a:solidFill>
                <a:latin typeface="Calibri"/>
              </a:rPr>
              <a:t>Loopback latency</a:t>
            </a:r>
          </a:p>
        </p:txBody>
      </p:sp>
      <p:sp>
        <p:nvSpPr>
          <p:cNvPr id="11" name="TextBox 10"/>
          <p:cNvSpPr txBox="1"/>
          <p:nvPr/>
        </p:nvSpPr>
        <p:spPr>
          <a:xfrm>
            <a:off x="6400800" y="1755648"/>
            <a:ext cx="4800600" cy="594359"/>
          </a:xfrm>
          <a:prstGeom prst="rect">
            <a:avLst/>
          </a:prstGeom>
          <a:noFill/>
        </p:spPr>
        <p:txBody>
          <a:bodyPr wrap="square" lIns="45720" rIns="45720" tIns="27432" bIns="27432" anchor="t">
            <a:spAutoFit/>
          </a:bodyPr>
          <a:lstStyle/>
          <a:p>
            <a:pPr algn="l"/>
            <a:r>
              <a:rPr sz="1500" b="0" i="0">
                <a:solidFill>
                  <a:srgbClr val="232323"/>
                </a:solidFill>
                <a:latin typeface="Calibri"/>
              </a:rPr>
              <a:t>one machine; venue Wi-Fi not measured</a:t>
            </a:r>
          </a:p>
        </p:txBody>
      </p:sp>
      <p:sp>
        <p:nvSpPr>
          <p:cNvPr id="12" name="Rounded Rectangle 11"/>
          <p:cNvSpPr/>
          <p:nvPr/>
        </p:nvSpPr>
        <p:spPr>
          <a:xfrm>
            <a:off x="822960" y="2651760"/>
            <a:ext cx="5166360" cy="128016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788920"/>
            <a:ext cx="4800600" cy="411480"/>
          </a:xfrm>
          <a:prstGeom prst="rect">
            <a:avLst/>
          </a:prstGeom>
          <a:noFill/>
        </p:spPr>
        <p:txBody>
          <a:bodyPr wrap="square" lIns="45720" rIns="45720" tIns="27432" bIns="27432" anchor="t">
            <a:spAutoFit/>
          </a:bodyPr>
          <a:lstStyle/>
          <a:p>
            <a:pPr algn="l"/>
            <a:r>
              <a:rPr sz="1700" b="1" i="0">
                <a:solidFill>
                  <a:srgbClr val="B45F06"/>
                </a:solidFill>
                <a:latin typeface="Calibri"/>
              </a:rPr>
              <a:t>Shown, not measured</a:t>
            </a:r>
          </a:p>
        </p:txBody>
      </p:sp>
      <p:sp>
        <p:nvSpPr>
          <p:cNvPr id="14" name="TextBox 13"/>
          <p:cNvSpPr txBox="1"/>
          <p:nvPr/>
        </p:nvSpPr>
        <p:spPr>
          <a:xfrm>
            <a:off x="1005840" y="3218688"/>
            <a:ext cx="4800600" cy="594359"/>
          </a:xfrm>
          <a:prstGeom prst="rect">
            <a:avLst/>
          </a:prstGeom>
          <a:noFill/>
        </p:spPr>
        <p:txBody>
          <a:bodyPr wrap="square" lIns="45720" rIns="45720" tIns="27432" bIns="27432" anchor="t">
            <a:spAutoFit/>
          </a:bodyPr>
          <a:lstStyle/>
          <a:p>
            <a:pPr algn="l"/>
            <a:r>
              <a:rPr sz="1500" b="0" i="0">
                <a:solidFill>
                  <a:srgbClr val="232323"/>
                </a:solidFill>
                <a:latin typeface="Calibri"/>
              </a:rPr>
              <a:t>capacity alert timing, fleet push delivery, camera decoding</a:t>
            </a:r>
          </a:p>
        </p:txBody>
      </p:sp>
      <p:sp>
        <p:nvSpPr>
          <p:cNvPr id="15" name="Rounded Rectangle 14"/>
          <p:cNvSpPr/>
          <p:nvPr/>
        </p:nvSpPr>
        <p:spPr>
          <a:xfrm>
            <a:off x="6217920" y="2651760"/>
            <a:ext cx="5166360" cy="128016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00600" cy="411480"/>
          </a:xfrm>
          <a:prstGeom prst="rect">
            <a:avLst/>
          </a:prstGeom>
          <a:noFill/>
        </p:spPr>
        <p:txBody>
          <a:bodyPr wrap="square" lIns="45720" rIns="45720" tIns="27432" bIns="27432" anchor="t">
            <a:spAutoFit/>
          </a:bodyPr>
          <a:lstStyle/>
          <a:p>
            <a:pPr algn="l"/>
            <a:r>
              <a:rPr sz="1700" b="1" i="0">
                <a:solidFill>
                  <a:srgbClr val="B45F06"/>
                </a:solidFill>
                <a:latin typeface="Calibri"/>
              </a:rPr>
              <a:t>No manual baseline</a:t>
            </a:r>
          </a:p>
        </p:txBody>
      </p:sp>
      <p:sp>
        <p:nvSpPr>
          <p:cNvPr id="17" name="TextBox 16"/>
          <p:cNvSpPr txBox="1"/>
          <p:nvPr/>
        </p:nvSpPr>
        <p:spPr>
          <a:xfrm>
            <a:off x="6400800" y="3218688"/>
            <a:ext cx="4800600" cy="594359"/>
          </a:xfrm>
          <a:prstGeom prst="rect">
            <a:avLst/>
          </a:prstGeom>
          <a:noFill/>
        </p:spPr>
        <p:txBody>
          <a:bodyPr wrap="square" lIns="45720" rIns="45720" tIns="27432" bIns="27432" anchor="t">
            <a:spAutoFit/>
          </a:bodyPr>
          <a:lstStyle/>
          <a:p>
            <a:pPr algn="l"/>
            <a:r>
              <a:rPr sz="1500" b="0" i="0">
                <a:solidFill>
                  <a:srgbClr val="232323"/>
                </a:solidFill>
                <a:latin typeface="Calibri"/>
              </a:rPr>
              <a:t>the staffed paper-line comparison was not run</a:t>
            </a:r>
          </a:p>
        </p:txBody>
      </p:sp>
      <p:sp>
        <p:nvSpPr>
          <p:cNvPr id="18" name="Rounded Rectangle 17"/>
          <p:cNvSpPr/>
          <p:nvPr/>
        </p:nvSpPr>
        <p:spPr>
          <a:xfrm>
            <a:off x="822960" y="4114800"/>
            <a:ext cx="5166360" cy="128016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251960"/>
            <a:ext cx="4800600" cy="411480"/>
          </a:xfrm>
          <a:prstGeom prst="rect">
            <a:avLst/>
          </a:prstGeom>
          <a:noFill/>
        </p:spPr>
        <p:txBody>
          <a:bodyPr wrap="square" lIns="45720" rIns="45720" tIns="27432" bIns="27432" anchor="t">
            <a:spAutoFit/>
          </a:bodyPr>
          <a:lstStyle/>
          <a:p>
            <a:pPr algn="l"/>
            <a:r>
              <a:rPr sz="1700" b="1" i="0">
                <a:solidFill>
                  <a:srgbClr val="B45F06"/>
                </a:solidFill>
                <a:latin typeface="Calibri"/>
              </a:rPr>
              <a:t>4.3a integration</a:t>
            </a:r>
          </a:p>
        </p:txBody>
      </p:sp>
      <p:sp>
        <p:nvSpPr>
          <p:cNvPr id="20" name="TextBox 19"/>
          <p:cNvSpPr txBox="1"/>
          <p:nvPr/>
        </p:nvSpPr>
        <p:spPr>
          <a:xfrm>
            <a:off x="1005840" y="4681728"/>
            <a:ext cx="4800600" cy="594359"/>
          </a:xfrm>
          <a:prstGeom prst="rect">
            <a:avLst/>
          </a:prstGeom>
          <a:noFill/>
        </p:spPr>
        <p:txBody>
          <a:bodyPr wrap="square" lIns="45720" rIns="45720" tIns="27432" bIns="27432" anchor="t">
            <a:spAutoFit/>
          </a:bodyPr>
          <a:lstStyle/>
          <a:p>
            <a:pPr algn="l"/>
            <a:r>
              <a:rPr sz="1500" b="0" i="0">
                <a:solidFill>
                  <a:srgbClr val="232323"/>
                </a:solidFill>
                <a:latin typeface="Calibri"/>
              </a:rPr>
              <a:t>built against its own check-in stub, not 4.3a's API</a:t>
            </a:r>
          </a:p>
        </p:txBody>
      </p:sp>
      <p:sp>
        <p:nvSpPr>
          <p:cNvPr id="21" name="Rounded Rectangle 20"/>
          <p:cNvSpPr/>
          <p:nvPr/>
        </p:nvSpPr>
        <p:spPr>
          <a:xfrm>
            <a:off x="6217920" y="4114800"/>
            <a:ext cx="5166360" cy="1280160"/>
          </a:xfrm>
          <a:prstGeom prst="roundRect">
            <a:avLst>
              <a:gd name="adj" fmla="val 8000"/>
            </a:avLst>
          </a:prstGeom>
          <a:solidFill>
            <a:srgbClr val="FD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4251960"/>
            <a:ext cx="4800600" cy="411480"/>
          </a:xfrm>
          <a:prstGeom prst="rect">
            <a:avLst/>
          </a:prstGeom>
          <a:noFill/>
        </p:spPr>
        <p:txBody>
          <a:bodyPr wrap="square" lIns="45720" rIns="45720" tIns="27432" bIns="27432" anchor="t">
            <a:spAutoFit/>
          </a:bodyPr>
          <a:lstStyle/>
          <a:p>
            <a:pPr algn="l"/>
            <a:r>
              <a:rPr sz="1700" b="1" i="0">
                <a:solidFill>
                  <a:srgbClr val="B45F06"/>
                </a:solidFill>
                <a:latin typeface="Calibri"/>
              </a:rPr>
              <a:t>Deployment hardening</a:t>
            </a:r>
          </a:p>
        </p:txBody>
      </p:sp>
      <p:sp>
        <p:nvSpPr>
          <p:cNvPr id="23" name="TextBox 22"/>
          <p:cNvSpPr txBox="1"/>
          <p:nvPr/>
        </p:nvSpPr>
        <p:spPr>
          <a:xfrm>
            <a:off x="6400800" y="4681728"/>
            <a:ext cx="4800600" cy="594359"/>
          </a:xfrm>
          <a:prstGeom prst="rect">
            <a:avLst/>
          </a:prstGeom>
          <a:noFill/>
        </p:spPr>
        <p:txBody>
          <a:bodyPr wrap="square" lIns="45720" rIns="45720" tIns="27432" bIns="27432" anchor="t">
            <a:spAutoFit/>
          </a:bodyPr>
          <a:lstStyle/>
          <a:p>
            <a:pPr algn="l"/>
            <a:r>
              <a:rPr sz="1500" b="0" i="0">
                <a:solidFill>
                  <a:srgbClr val="232323"/>
                </a:solidFill>
                <a:latin typeface="Calibri"/>
              </a:rPr>
              <a:t>plain HTTP in development, no login rate limit; Android only</a:t>
            </a:r>
          </a:p>
        </p:txBody>
      </p:sp>
      <p:sp>
        <p:nvSpPr>
          <p:cNvPr id="24" name="TextBox 23"/>
          <p:cNvSpPr txBox="1"/>
          <p:nvPr/>
        </p:nvSpPr>
        <p:spPr>
          <a:xfrm>
            <a:off x="822960" y="5669280"/>
            <a:ext cx="10607040" cy="457200"/>
          </a:xfrm>
          <a:prstGeom prst="rect">
            <a:avLst/>
          </a:prstGeom>
          <a:noFill/>
        </p:spPr>
        <p:txBody>
          <a:bodyPr wrap="square" lIns="45720" rIns="45720" tIns="27432" bIns="27432" anchor="t">
            <a:spAutoFit/>
          </a:bodyPr>
          <a:lstStyle/>
          <a:p>
            <a:pPr algn="l"/>
            <a:r>
              <a:rPr sz="1500" b="0" i="1">
                <a:solidFill>
                  <a:srgbClr val="5A6370"/>
                </a:solidFill>
                <a:latin typeface="Calibri"/>
              </a:rPr>
              <a:t>The results are a controlled measurement on synthetic data, not a field measurement.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23220"/>
          </a:xfrm>
          <a:prstGeom prst="rect">
            <a:avLst/>
          </a:prstGeom>
          <a:noFill/>
        </p:spPr>
        <p:txBody>
          <a:bodyPr wrap="none">
            <a:spAutoFit/>
          </a:bodyPr>
          <a:lstStyle/>
          <a:p>
            <a:pPr>
              <a:defRPr sz="2800" b="1">
                <a:solidFill>
                  <a:srgbClr val="192D4B"/>
                </a:solidFill>
              </a:defRPr>
            </a:pPr>
            <a:r>
              <a:rPr lang="en-US" dirty="0"/>
              <a:t>Conclusion</a:t>
            </a:r>
            <a:endParaRPr dirty="0"/>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18</a:t>
            </a:r>
            <a:endParaRPr dirty="0"/>
          </a:p>
        </p:txBody>
      </p:sp>
      <p:graphicFrame>
        <p:nvGraphicFramePr>
          <p:cNvPr id="6" name="Table 5"/>
          <p:cNvGraphicFramePr>
            <a:graphicFrameLocks noGrp="1"/>
          </p:cNvGraphicFramePr>
          <p:nvPr/>
        </p:nvGraphicFramePr>
        <p:xfrm>
          <a:off x="822960" y="1051560"/>
          <a:ext cx="6766560" cy="4242816"/>
        </p:xfrm>
        <a:graphic>
          <a:graphicData uri="http://schemas.openxmlformats.org/drawingml/2006/table">
            <a:tbl>
              <a:tblPr firstRow="1" bandRow="1">
                <a:tableStyleId>{5940675A-B579-460E-94D1-54222C63F5DA}</a:tableStyleId>
              </a:tblPr>
              <a:tblGrid>
                <a:gridCol w="2651760"/>
                <a:gridCol w="4114800"/>
              </a:tblGrid>
              <a:tr h="530352">
                <a:tc>
                  <a:txBody>
                    <a:bodyPr wrap="square"/>
                    <a:lstStyle/>
                    <a:p>
                      <a:r>
                        <a:rPr sz="1300" b="1">
                          <a:solidFill>
                            <a:srgbClr val="FFFFFF"/>
                          </a:solidFill>
                          <a:latin typeface="Calibri"/>
                        </a:rPr>
                        <a:t>Objective</a:t>
                      </a:r>
                    </a:p>
                  </a:txBody>
                  <a:tcPr marL="73152" marR="73152" marT="36576" marB="36576" anchor="ctr">
                    <a:solidFill>
                      <a:srgbClr val="192D4B"/>
                    </a:solidFill>
                  </a:tcPr>
                </a:tc>
                <a:tc>
                  <a:txBody>
                    <a:bodyPr wrap="square"/>
                    <a:lstStyle/>
                    <a:p>
                      <a:r>
                        <a:rPr sz="1300" b="1">
                          <a:solidFill>
                            <a:srgbClr val="FFFFFF"/>
                          </a:solidFill>
                          <a:latin typeface="Calibri"/>
                        </a:rPr>
                        <a:t>Status</a:t>
                      </a:r>
                    </a:p>
                  </a:txBody>
                  <a:tcPr marL="73152" marR="73152" marT="36576" marB="36576" anchor="ctr">
                    <a:solidFill>
                      <a:srgbClr val="192D4B"/>
                    </a:solidFill>
                  </a:tcPr>
                </a:tc>
              </a:tr>
              <a:tr h="530352">
                <a:tc>
                  <a:txBody>
                    <a:bodyPr wrap="square"/>
                    <a:lstStyle/>
                    <a:p>
                      <a:r>
                        <a:rPr sz="1300">
                          <a:solidFill>
                            <a:srgbClr val="232323"/>
                          </a:solidFill>
                          <a:latin typeface="Calibri"/>
                        </a:rPr>
                        <a:t>1. Analytics dashboard</a:t>
                      </a:r>
                    </a:p>
                  </a:txBody>
                  <a:tcPr marL="73152" marR="73152" marT="36576" marB="36576" anchor="ctr">
                    <a:solidFill>
                      <a:srgbClr val="FFFFFF"/>
                    </a:solidFill>
                  </a:tcPr>
                </a:tc>
                <a:tc>
                  <a:txBody>
                    <a:bodyPr wrap="square"/>
                    <a:lstStyle/>
                    <a:p>
                      <a:r>
                        <a:rPr sz="1300">
                          <a:solidFill>
                            <a:srgbClr val="232323"/>
                          </a:solidFill>
                          <a:latin typeface="Calibri"/>
                        </a:rPr>
                        <a:t>Built; 30 s poll, freshness not guaranteed by design</a:t>
                      </a:r>
                    </a:p>
                  </a:txBody>
                  <a:tcPr marL="73152" marR="73152" marT="36576" marB="36576" anchor="ctr">
                    <a:solidFill>
                      <a:srgbClr val="FFFFFF"/>
                    </a:solidFill>
                  </a:tcPr>
                </a:tc>
              </a:tr>
              <a:tr h="530352">
                <a:tc>
                  <a:txBody>
                    <a:bodyPr wrap="square"/>
                    <a:lstStyle/>
                    <a:p>
                      <a:r>
                        <a:rPr sz="1300">
                          <a:solidFill>
                            <a:srgbClr val="232323"/>
                          </a:solidFill>
                          <a:latin typeface="Calibri"/>
                        </a:rPr>
                        <a:t>2. Single-use meal vouchers</a:t>
                      </a:r>
                    </a:p>
                  </a:txBody>
                  <a:tcPr marL="73152" marR="73152" marT="36576" marB="36576" anchor="ctr">
                    <a:solidFill>
                      <a:srgbClr val="EEF2F7"/>
                    </a:solidFill>
                  </a:tcPr>
                </a:tc>
                <a:tc>
                  <a:txBody>
                    <a:bodyPr wrap="square"/>
                    <a:lstStyle/>
                    <a:p>
                      <a:r>
                        <a:rPr sz="1300">
                          <a:solidFill>
                            <a:srgbClr val="232323"/>
                          </a:solidFill>
                          <a:latin typeface="Calibri"/>
                        </a:rPr>
                        <a:t>Met at the API; in the app shown once on an emulator, manual entry</a:t>
                      </a:r>
                    </a:p>
                  </a:txBody>
                  <a:tcPr marL="73152" marR="73152" marT="36576" marB="36576" anchor="ctr">
                    <a:solidFill>
                      <a:srgbClr val="EEF2F7"/>
                    </a:solidFill>
                  </a:tcPr>
                </a:tc>
              </a:tr>
              <a:tr h="530352">
                <a:tc>
                  <a:txBody>
                    <a:bodyPr wrap="square"/>
                    <a:lstStyle/>
                    <a:p>
                      <a:r>
                        <a:rPr sz="1300">
                          <a:solidFill>
                            <a:srgbClr val="232323"/>
                          </a:solidFill>
                          <a:latin typeface="Calibri"/>
                        </a:rPr>
                        <a:t>3. Session capacity and alerts</a:t>
                      </a:r>
                    </a:p>
                  </a:txBody>
                  <a:tcPr marL="73152" marR="73152" marT="36576" marB="36576" anchor="ctr">
                    <a:solidFill>
                      <a:srgbClr val="FFFFFF"/>
                    </a:solidFill>
                  </a:tcPr>
                </a:tc>
                <a:tc>
                  <a:txBody>
                    <a:bodyPr wrap="square"/>
                    <a:lstStyle/>
                    <a:p>
                      <a:r>
                        <a:rPr sz="1300">
                          <a:solidFill>
                            <a:srgbClr val="232323"/>
                          </a:solidFill>
                          <a:latin typeface="Calibri"/>
                        </a:rPr>
                        <a:t>Met in function; alert timing not measured</a:t>
                      </a:r>
                    </a:p>
                  </a:txBody>
                  <a:tcPr marL="73152" marR="73152" marT="36576" marB="36576" anchor="ctr">
                    <a:solidFill>
                      <a:srgbClr val="FFFFFF"/>
                    </a:solidFill>
                  </a:tcPr>
                </a:tc>
              </a:tr>
              <a:tr h="530352">
                <a:tc>
                  <a:txBody>
                    <a:bodyPr wrap="square"/>
                    <a:lstStyle/>
                    <a:p>
                      <a:r>
                        <a:rPr sz="1300">
                          <a:solidFill>
                            <a:srgbClr val="232323"/>
                          </a:solidFill>
                          <a:latin typeface="Calibri"/>
                        </a:rPr>
                        <a:t>4. Push notifications</a:t>
                      </a:r>
                    </a:p>
                  </a:txBody>
                  <a:tcPr marL="73152" marR="73152" marT="36576" marB="36576" anchor="ctr">
                    <a:solidFill>
                      <a:srgbClr val="EEF2F7"/>
                    </a:solidFill>
                  </a:tcPr>
                </a:tc>
                <a:tc>
                  <a:txBody>
                    <a:bodyPr wrap="square"/>
                    <a:lstStyle/>
                    <a:p>
                      <a:r>
                        <a:rPr sz="1300">
                          <a:solidFill>
                            <a:srgbClr val="232323"/>
                          </a:solidFill>
                          <a:latin typeface="Calibri"/>
                        </a:rPr>
                        <a:t>Verified end to end on one device; fleet delivery not measured</a:t>
                      </a:r>
                    </a:p>
                  </a:txBody>
                  <a:tcPr marL="73152" marR="73152" marT="36576" marB="36576" anchor="ctr">
                    <a:solidFill>
                      <a:srgbClr val="EEF2F7"/>
                    </a:solidFill>
                  </a:tcPr>
                </a:tc>
              </a:tr>
              <a:tr h="530352">
                <a:tc>
                  <a:txBody>
                    <a:bodyPr wrap="square"/>
                    <a:lstStyle/>
                    <a:p>
                      <a:r>
                        <a:rPr sz="1300">
                          <a:solidFill>
                            <a:srgbClr val="232323"/>
                          </a:solidFill>
                          <a:latin typeface="Calibri"/>
                        </a:rPr>
                        <a:t>5. Reports and CSV export</a:t>
                      </a:r>
                    </a:p>
                  </a:txBody>
                  <a:tcPr marL="73152" marR="73152" marT="36576" marB="36576" anchor="ctr">
                    <a:solidFill>
                      <a:srgbClr val="FFFFFF"/>
                    </a:solidFill>
                  </a:tcPr>
                </a:tc>
                <a:tc>
                  <a:txBody>
                    <a:bodyPr wrap="square"/>
                    <a:lstStyle/>
                    <a:p>
                      <a:r>
                        <a:rPr sz="1300">
                          <a:solidFill>
                            <a:srgbClr val="232323"/>
                          </a:solidFill>
                          <a:latin typeface="Calibri"/>
                        </a:rPr>
                        <a:t>Met</a:t>
                      </a:r>
                    </a:p>
                  </a:txBody>
                  <a:tcPr marL="73152" marR="73152" marT="36576" marB="36576" anchor="ctr">
                    <a:solidFill>
                      <a:srgbClr val="FFFFFF"/>
                    </a:solidFill>
                  </a:tcPr>
                </a:tc>
              </a:tr>
              <a:tr h="530352">
                <a:tc>
                  <a:txBody>
                    <a:bodyPr wrap="square"/>
                    <a:lstStyle/>
                    <a:p>
                      <a:r>
                        <a:rPr sz="1300">
                          <a:solidFill>
                            <a:srgbClr val="232323"/>
                          </a:solidFill>
                          <a:latin typeface="Calibri"/>
                        </a:rPr>
                        <a:t>6. Evaluation</a:t>
                      </a:r>
                    </a:p>
                  </a:txBody>
                  <a:tcPr marL="73152" marR="73152" marT="36576" marB="36576" anchor="ctr">
                    <a:solidFill>
                      <a:srgbClr val="EEF2F7"/>
                    </a:solidFill>
                  </a:tcPr>
                </a:tc>
                <a:tc>
                  <a:txBody>
                    <a:bodyPr wrap="square"/>
                    <a:lstStyle/>
                    <a:p>
                      <a:r>
                        <a:rPr sz="1300">
                          <a:solidFill>
                            <a:srgbClr val="232323"/>
                          </a:solidFill>
                          <a:latin typeface="Calibri"/>
                        </a:rPr>
                        <a:t>Partly met: fleet push and the manual baseline not run</a:t>
                      </a:r>
                    </a:p>
                  </a:txBody>
                  <a:tcPr marL="73152" marR="73152" marT="36576" marB="36576" anchor="ctr">
                    <a:solidFill>
                      <a:srgbClr val="EEF2F7"/>
                    </a:solidFill>
                  </a:tcPr>
                </a:tc>
              </a:tr>
              <a:tr h="530352">
                <a:tc>
                  <a:txBody>
                    <a:bodyPr wrap="square"/>
                    <a:lstStyle/>
                    <a:p>
                      <a:r>
                        <a:rPr sz="1300">
                          <a:solidFill>
                            <a:srgbClr val="232323"/>
                          </a:solidFill>
                          <a:latin typeface="Calibri"/>
                        </a:rPr>
                        <a:t>7. Documentation</a:t>
                      </a:r>
                    </a:p>
                  </a:txBody>
                  <a:tcPr marL="73152" marR="73152" marT="36576" marB="36576" anchor="ctr">
                    <a:solidFill>
                      <a:srgbClr val="FFFFFF"/>
                    </a:solidFill>
                  </a:tcPr>
                </a:tc>
                <a:tc>
                  <a:txBody>
                    <a:bodyPr wrap="square"/>
                    <a:lstStyle/>
                    <a:p>
                      <a:r>
                        <a:rPr sz="1300">
                          <a:solidFill>
                            <a:srgbClr val="232323"/>
                          </a:solidFill>
                          <a:latin typeface="Calibri"/>
                        </a:rPr>
                        <a:t>Report and validation done; paper not yet publication-ready</a:t>
                      </a:r>
                    </a:p>
                  </a:txBody>
                  <a:tcPr marL="73152" marR="73152" marT="36576" marB="36576" anchor="ctr">
                    <a:solidFill>
                      <a:srgbClr val="FFFFFF"/>
                    </a:solidFill>
                  </a:tcPr>
                </a:tc>
              </a:tr>
            </a:tbl>
          </a:graphicData>
        </a:graphic>
      </p:graphicFrame>
      <p:sp>
        <p:nvSpPr>
          <p:cNvPr id="7" name="Rounded Rectangle 6"/>
          <p:cNvSpPr/>
          <p:nvPr/>
        </p:nvSpPr>
        <p:spPr>
          <a:xfrm>
            <a:off x="7863840" y="1051560"/>
            <a:ext cx="3566160" cy="32918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9" y="1188719"/>
            <a:ext cx="3200400" cy="411480"/>
          </a:xfrm>
          <a:prstGeom prst="rect">
            <a:avLst/>
          </a:prstGeom>
          <a:noFill/>
        </p:spPr>
        <p:txBody>
          <a:bodyPr wrap="square" lIns="45720" rIns="45720" tIns="27432" bIns="27432" anchor="t">
            <a:spAutoFit/>
          </a:bodyPr>
          <a:lstStyle/>
          <a:p>
            <a:pPr algn="l"/>
            <a:r>
              <a:rPr sz="1700" b="1" i="0">
                <a:solidFill>
                  <a:srgbClr val="192D4B"/>
                </a:solidFill>
                <a:latin typeface="Calibri"/>
              </a:rPr>
              <a:t>Recommendations</a:t>
            </a:r>
          </a:p>
        </p:txBody>
      </p:sp>
      <p:sp>
        <p:nvSpPr>
          <p:cNvPr id="9" name="TextBox 8"/>
          <p:cNvSpPr txBox="1"/>
          <p:nvPr/>
        </p:nvSpPr>
        <p:spPr>
          <a:xfrm>
            <a:off x="8046719" y="1618488"/>
            <a:ext cx="3200400" cy="2606040"/>
          </a:xfrm>
          <a:prstGeom prst="rect">
            <a:avLst/>
          </a:prstGeom>
          <a:noFill/>
        </p:spPr>
        <p:txBody>
          <a:bodyPr wrap="square" lIns="45720" rIns="45720" tIns="27432" bIns="27432" anchor="t">
            <a:spAutoFit/>
          </a:bodyPr>
          <a:lstStyle/>
          <a:p>
            <a:pPr algn="l"/>
            <a:r>
              <a:rPr sz="1400" b="0" i="0">
                <a:solidFill>
                  <a:srgbClr val="232323"/>
                </a:solidFill>
                <a:latin typeface="Calibri"/>
              </a:rPr>
              <a:t>Run a live trial at a real event</a:t>
            </a:r>
          </a:p>
          <a:p>
            <a:pPr algn="l">
              <a:spcBef>
                <a:spcPts val="600"/>
              </a:spcBef>
            </a:pPr>
            <a:r>
              <a:rPr sz="1400" b="0" i="0">
                <a:solidFill>
                  <a:srgbClr val="232323"/>
                </a:solidFill>
                <a:latin typeface="Calibri"/>
              </a:rPr>
              <a:t>Two-phone camera trial and the manual baseline</a:t>
            </a:r>
          </a:p>
          <a:p>
            <a:pPr algn="l">
              <a:spcBef>
                <a:spcPts val="600"/>
              </a:spcBef>
            </a:pPr>
            <a:r>
              <a:rPr sz="1400" b="0" i="0">
                <a:solidFill>
                  <a:srgbClr val="232323"/>
                </a:solidFill>
                <a:latin typeface="Calibri"/>
              </a:rPr>
              <a:t>Replace polling with a WebSocket stream</a:t>
            </a:r>
          </a:p>
          <a:p>
            <a:pPr algn="l">
              <a:spcBef>
                <a:spcPts val="600"/>
              </a:spcBef>
            </a:pPr>
            <a:r>
              <a:rPr sz="1400" b="0" i="0">
                <a:solidFill>
                  <a:srgbClr val="232323"/>
                </a:solidFill>
                <a:latin typeface="Calibri"/>
              </a:rPr>
              <a:t>Integrate with 4.3a's own API</a:t>
            </a:r>
          </a:p>
          <a:p>
            <a:pPr algn="l">
              <a:spcBef>
                <a:spcPts val="600"/>
              </a:spcBef>
            </a:pPr>
            <a:r>
              <a:rPr sz="1400" b="0" i="0">
                <a:solidFill>
                  <a:srgbClr val="232323"/>
                </a:solidFill>
                <a:latin typeface="Calibri"/>
              </a:rPr>
              <a:t>Harden for deployment: HTTPS, rate limits, iOS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System Demonstration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19</a:t>
            </a:r>
            <a:endParaRPr dirty="0"/>
          </a:p>
        </p:txBody>
      </p:sp>
      <p:pic>
        <p:nvPicPr>
          <p:cNvPr id="6" name="Picture 5" descr="evidence-ui-my-meals.png"/>
          <p:cNvPicPr>
            <a:picLocks noChangeAspect="1"/>
          </p:cNvPicPr>
          <p:nvPr/>
        </p:nvPicPr>
        <p:blipFill>
          <a:blip r:embed="rId2"/>
          <a:stretch>
            <a:fillRect/>
          </a:stretch>
        </p:blipFill>
        <p:spPr>
          <a:xfrm>
            <a:off x="1097280" y="1097280"/>
            <a:ext cx="2016252" cy="4480560"/>
          </a:xfrm>
          <a:prstGeom prst="rect">
            <a:avLst/>
          </a:prstGeom>
          <a:ln w="12700">
            <a:solidFill>
              <a:srgbClr val="C9D2DE"/>
            </a:solidFill>
          </a:ln>
        </p:spPr>
      </p:pic>
      <p:sp>
        <p:nvSpPr>
          <p:cNvPr id="7" name="TextBox 6"/>
          <p:cNvSpPr txBox="1"/>
          <p:nvPr/>
        </p:nvSpPr>
        <p:spPr>
          <a:xfrm>
            <a:off x="822959" y="5669280"/>
            <a:ext cx="3017520" cy="548640"/>
          </a:xfrm>
          <a:prstGeom prst="rect">
            <a:avLst/>
          </a:prstGeom>
          <a:noFill/>
        </p:spPr>
        <p:txBody>
          <a:bodyPr wrap="square" lIns="45720" rIns="45720" tIns="27432" bIns="27432" anchor="t">
            <a:spAutoFit/>
          </a:bodyPr>
          <a:lstStyle/>
          <a:p>
            <a:pPr algn="ctr"/>
            <a:r>
              <a:rPr sz="1300" b="0" i="0">
                <a:solidFill>
                  <a:srgbClr val="232323"/>
                </a:solidFill>
                <a:latin typeface="Calibri"/>
              </a:rPr>
              <a:t>1. Attendee: My meals shows the Supper voucher</a:t>
            </a:r>
          </a:p>
        </p:txBody>
      </p:sp>
      <p:pic>
        <p:nvPicPr>
          <p:cNvPr id="8" name="Picture 7" descr="evidence-scan-accepted.png"/>
          <p:cNvPicPr>
            <a:picLocks noChangeAspect="1"/>
          </p:cNvPicPr>
          <p:nvPr/>
        </p:nvPicPr>
        <p:blipFill>
          <a:blip r:embed="rId3"/>
          <a:stretch>
            <a:fillRect/>
          </a:stretch>
        </p:blipFill>
        <p:spPr>
          <a:xfrm>
            <a:off x="4663440" y="1097280"/>
            <a:ext cx="2016252" cy="4480560"/>
          </a:xfrm>
          <a:prstGeom prst="rect">
            <a:avLst/>
          </a:prstGeom>
          <a:ln w="12700">
            <a:solidFill>
              <a:srgbClr val="C9D2DE"/>
            </a:solidFill>
          </a:ln>
        </p:spPr>
      </p:pic>
      <p:sp>
        <p:nvSpPr>
          <p:cNvPr id="9" name="TextBox 8"/>
          <p:cNvSpPr txBox="1"/>
          <p:nvPr/>
        </p:nvSpPr>
        <p:spPr>
          <a:xfrm>
            <a:off x="4389120" y="5669280"/>
            <a:ext cx="3017520" cy="548640"/>
          </a:xfrm>
          <a:prstGeom prst="rect">
            <a:avLst/>
          </a:prstGeom>
          <a:noFill/>
        </p:spPr>
        <p:txBody>
          <a:bodyPr wrap="square" lIns="45720" rIns="45720" tIns="27432" bIns="27432" anchor="t">
            <a:spAutoFit/>
          </a:bodyPr>
          <a:lstStyle/>
          <a:p>
            <a:pPr algn="ctr"/>
            <a:r>
              <a:rPr sz="1300" b="0" i="0">
                <a:solidFill>
                  <a:srgbClr val="232323"/>
                </a:solidFill>
                <a:latin typeface="Calibri"/>
              </a:rPr>
              <a:t>2. Scanner: first scan, 200 redeemed</a:t>
            </a:r>
          </a:p>
        </p:txBody>
      </p:sp>
      <p:pic>
        <p:nvPicPr>
          <p:cNvPr id="10" name="Picture 9" descr="evidence-scan-duplicate-rejected.png"/>
          <p:cNvPicPr>
            <a:picLocks noChangeAspect="1"/>
          </p:cNvPicPr>
          <p:nvPr/>
        </p:nvPicPr>
        <p:blipFill>
          <a:blip r:embed="rId4"/>
          <a:stretch>
            <a:fillRect/>
          </a:stretch>
        </p:blipFill>
        <p:spPr>
          <a:xfrm>
            <a:off x="8229600" y="1097280"/>
            <a:ext cx="2016252" cy="4480560"/>
          </a:xfrm>
          <a:prstGeom prst="rect">
            <a:avLst/>
          </a:prstGeom>
          <a:ln w="12700">
            <a:solidFill>
              <a:srgbClr val="C9D2DE"/>
            </a:solidFill>
          </a:ln>
        </p:spPr>
      </p:pic>
      <p:sp>
        <p:nvSpPr>
          <p:cNvPr id="11" name="TextBox 10"/>
          <p:cNvSpPr txBox="1"/>
          <p:nvPr/>
        </p:nvSpPr>
        <p:spPr>
          <a:xfrm>
            <a:off x="7955279" y="5669280"/>
            <a:ext cx="3017520" cy="548640"/>
          </a:xfrm>
          <a:prstGeom prst="rect">
            <a:avLst/>
          </a:prstGeom>
          <a:noFill/>
        </p:spPr>
        <p:txBody>
          <a:bodyPr wrap="square" lIns="45720" rIns="45720" tIns="27432" bIns="27432" anchor="t">
            <a:spAutoFit/>
          </a:bodyPr>
          <a:lstStyle/>
          <a:p>
            <a:pPr algn="ctr"/>
            <a:r>
              <a:rPr sz="1300" b="0" i="0">
                <a:solidFill>
                  <a:srgbClr val="232323"/>
                </a:solidFill>
                <a:latin typeface="Calibri"/>
              </a:rPr>
              <a:t>3. Same token again: 409 refused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defRPr sz="2800" b="1">
                <a:solidFill>
                  <a:srgbClr val="192D4B"/>
                </a:solidFill>
              </a:defRPr>
            </a:pPr>
            <a:r>
              <a:t>Questions and Discussion</a:t>
            </a:r>
          </a:p>
        </p:txBody>
      </p:sp>
      <p:sp>
        <p:nvSpPr>
          <p:cNvPr id="3" name="TextBox 2"/>
          <p:cNvSpPr txBox="1"/>
          <p:nvPr/>
        </p:nvSpPr>
        <p:spPr>
          <a:xfrm>
            <a:off x="777240" y="2659558"/>
            <a:ext cx="10607040" cy="1538883"/>
          </a:xfrm>
          <a:prstGeom prst="rect">
            <a:avLst/>
          </a:prstGeom>
          <a:noFill/>
        </p:spPr>
        <p:txBody>
          <a:bodyPr wrap="square">
            <a:spAutoFit/>
          </a:bodyPr>
          <a:lstStyle/>
          <a:p>
            <a:pPr algn="ctr">
              <a:spcAft>
                <a:spcPts val="1200"/>
              </a:spcAft>
              <a:defRPr sz="2100">
                <a:solidFill>
                  <a:srgbClr val="232323"/>
                </a:solidFill>
              </a:defRPr>
            </a:pPr>
            <a:r>
              <a:rPr sz="4200" dirty="0"/>
              <a:t>Thank you</a:t>
            </a:r>
          </a:p>
          <a:p>
            <a:pPr algn="ctr">
              <a:spcAft>
                <a:spcPts val="1200"/>
              </a:spcAft>
              <a:defRPr sz="2100">
                <a:solidFill>
                  <a:srgbClr val="232323"/>
                </a:solidFill>
              </a:defRPr>
            </a:pPr>
            <a:r>
              <a:rPr sz="4200" dirty="0"/>
              <a:t>Questions?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5486400" cy="230832"/>
          </a:xfrm>
          <a:prstGeom prst="rect">
            <a:avLst/>
          </a:prstGeom>
          <a:noFill/>
        </p:spPr>
        <p:txBody>
          <a:bodyPr wrap="none">
            <a:spAutoFit/>
          </a:bodyPr>
          <a:lstStyle/>
          <a:p>
            <a:pPr>
              <a:defRPr sz="900">
                <a:solidFill>
                  <a:srgbClr val="FFFFFF"/>
                </a:solidFill>
              </a:defRPr>
            </a:pPr>
            <a:r>
              <a:rPr dirty="0"/>
              <a:t>Final Year Project • Academic Year 2026                                      20</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649</Words>
  <Application>Microsoft Office PowerPoint</Application>
  <PresentationFormat>Widescreen</PresentationFormat>
  <Paragraphs>110</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Alinani Simukanga</cp:lastModifiedBy>
  <cp:revision>6</cp:revision>
  <dcterms:created xsi:type="dcterms:W3CDTF">2013-01-27T09:14:16Z</dcterms:created>
  <dcterms:modified xsi:type="dcterms:W3CDTF">2026-10-12T14:16:02Z</dcterms:modified>
  <cp:category/>
</cp:coreProperties>
</file>